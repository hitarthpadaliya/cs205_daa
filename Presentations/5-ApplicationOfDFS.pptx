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9144000"/>
  <p:notesSz cx="7150100" cy="9448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i7lk3MH85zbG/EFfT5Q5i6644r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8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9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0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1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1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2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2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3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3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4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5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5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6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6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7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8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9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9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0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0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1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2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2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3:notes"/>
          <p:cNvSpPr txBox="1"/>
          <p:nvPr>
            <p:ph idx="1" type="body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3:notes"/>
          <p:cNvSpPr/>
          <p:nvPr>
            <p:ph idx="2" type="sldImg"/>
          </p:nvPr>
        </p:nvSpPr>
        <p:spPr>
          <a:xfrm>
            <a:off x="1191900" y="708650"/>
            <a:ext cx="4766950" cy="354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u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rgbClr val="0000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7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 rot="5400000">
            <a:off x="4876007" y="1981994"/>
            <a:ext cx="6248400" cy="228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 rot="5400000">
            <a:off x="228600" y="-228600"/>
            <a:ext cx="6248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" type="body"/>
          </p:nvPr>
        </p:nvSpPr>
        <p:spPr>
          <a:xfrm rot="5400000">
            <a:off x="1866900" y="-800100"/>
            <a:ext cx="5334000" cy="8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1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rgbClr val="010000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Char char="⬥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4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rgbClr val="010000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42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4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44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152400" y="914400"/>
            <a:ext cx="4305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5"/>
          <p:cNvSpPr txBox="1"/>
          <p:nvPr>
            <p:ph idx="2" type="body"/>
          </p:nvPr>
        </p:nvSpPr>
        <p:spPr>
          <a:xfrm>
            <a:off x="4610100" y="914400"/>
            <a:ext cx="4305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46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  <a:defRPr b="0" i="0" sz="2800" u="none" cap="none" strike="noStrik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36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  <a:defRPr b="0" i="0" sz="2800" u="none" cap="none" strike="noStrik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36"/>
          <p:cNvSpPr txBox="1"/>
          <p:nvPr>
            <p:ph idx="11" type="ftr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6"/>
          <p:cNvSpPr txBox="1"/>
          <p:nvPr/>
        </p:nvSpPr>
        <p:spPr>
          <a:xfrm>
            <a:off x="0" y="6456362"/>
            <a:ext cx="11604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graphs-2 - </a:t>
            </a:r>
            <a:fld id="{00000000-1234-1234-1234-123412341234}" type="slidenum">
              <a:rPr b="0" i="0" lang="en-US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" name="Google Shape;23;p36"/>
          <p:cNvSpPr txBox="1"/>
          <p:nvPr/>
        </p:nvSpPr>
        <p:spPr>
          <a:xfrm>
            <a:off x="7743825" y="64008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 / Devi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Spring 2004</a:t>
            </a:r>
            <a:endParaRPr/>
          </a:p>
        </p:txBody>
      </p:sp>
      <p:sp>
        <p:nvSpPr>
          <p:cNvPr id="82" name="Google Shape;8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Algorithms – 2 </a:t>
            </a:r>
            <a:endParaRPr/>
          </a:p>
        </p:txBody>
      </p:sp>
      <p:sp>
        <p:nvSpPr>
          <p:cNvPr id="83" name="Google Shape;83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9" name="Google Shape;89;p2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Edges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Char char="⬥"/>
            </a:pPr>
            <a:r>
              <a:rPr b="0" i="0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type for edge (</a:t>
            </a:r>
            <a:r>
              <a:rPr b="0" i="1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b="0" i="0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1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identified when it is first explored by DFS.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Char char="⬥"/>
            </a:pPr>
            <a:r>
              <a:rPr b="0" i="0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is based on the </a:t>
            </a: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of </a:t>
            </a:r>
            <a:r>
              <a:rPr b="1" i="1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 – tree edge.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 – back edge.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– forward or cross edge.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6" name="Google Shape;96;p3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Acyclic Graph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 – Directed graph with no cycles.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for modeling processes and structures that have a </a:t>
            </a:r>
            <a:r>
              <a:rPr b="1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 order: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may have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neither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always make a </a:t>
            </a:r>
            <a:r>
              <a:rPr b="1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order</a:t>
            </a:r>
            <a:r>
              <a:rPr b="1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(either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from a partial order. 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03" name="Google Shape;103;p4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152400" y="9144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 of dependencies for putting on goalie equipment.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914400" y="19812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socks</a:t>
            </a:r>
            <a:endParaRPr sz="1300"/>
          </a:p>
        </p:txBody>
      </p:sp>
      <p:sp>
        <p:nvSpPr>
          <p:cNvPr id="106" name="Google Shape;106;p4"/>
          <p:cNvSpPr/>
          <p:nvPr/>
        </p:nvSpPr>
        <p:spPr>
          <a:xfrm>
            <a:off x="2133600" y="19812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shorts</a:t>
            </a:r>
            <a:endParaRPr sz="700"/>
          </a:p>
        </p:txBody>
      </p:sp>
      <p:sp>
        <p:nvSpPr>
          <p:cNvPr id="107" name="Google Shape;107;p4"/>
          <p:cNvSpPr/>
          <p:nvPr/>
        </p:nvSpPr>
        <p:spPr>
          <a:xfrm>
            <a:off x="1600200" y="27432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hose</a:t>
            </a:r>
            <a:endParaRPr sz="1300"/>
          </a:p>
        </p:txBody>
      </p:sp>
      <p:sp>
        <p:nvSpPr>
          <p:cNvPr id="108" name="Google Shape;108;p4"/>
          <p:cNvSpPr/>
          <p:nvPr/>
        </p:nvSpPr>
        <p:spPr>
          <a:xfrm>
            <a:off x="1600200" y="34798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pants</a:t>
            </a:r>
            <a:endParaRPr sz="1300"/>
          </a:p>
        </p:txBody>
      </p:sp>
      <p:sp>
        <p:nvSpPr>
          <p:cNvPr id="109" name="Google Shape;109;p4"/>
          <p:cNvSpPr/>
          <p:nvPr/>
        </p:nvSpPr>
        <p:spPr>
          <a:xfrm>
            <a:off x="1600200" y="42164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skates</a:t>
            </a:r>
            <a:endParaRPr sz="1300"/>
          </a:p>
        </p:txBody>
      </p:sp>
      <p:sp>
        <p:nvSpPr>
          <p:cNvPr id="110" name="Google Shape;110;p4"/>
          <p:cNvSpPr/>
          <p:nvPr/>
        </p:nvSpPr>
        <p:spPr>
          <a:xfrm>
            <a:off x="1600200" y="4953000"/>
            <a:ext cx="9144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 pads</a:t>
            </a:r>
            <a:endParaRPr sz="1300"/>
          </a:p>
        </p:txBody>
      </p:sp>
      <p:sp>
        <p:nvSpPr>
          <p:cNvPr id="111" name="Google Shape;111;p4"/>
          <p:cNvSpPr/>
          <p:nvPr/>
        </p:nvSpPr>
        <p:spPr>
          <a:xfrm>
            <a:off x="3733800" y="19050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T-shirt</a:t>
            </a:r>
            <a:endParaRPr sz="1300"/>
          </a:p>
        </p:txBody>
      </p:sp>
      <p:sp>
        <p:nvSpPr>
          <p:cNvPr id="112" name="Google Shape;112;p4"/>
          <p:cNvSpPr/>
          <p:nvPr/>
        </p:nvSpPr>
        <p:spPr>
          <a:xfrm>
            <a:off x="3657600" y="2667000"/>
            <a:ext cx="990600" cy="4572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chest pad</a:t>
            </a:r>
            <a:endParaRPr sz="1300"/>
          </a:p>
        </p:txBody>
      </p:sp>
      <p:sp>
        <p:nvSpPr>
          <p:cNvPr id="113" name="Google Shape;113;p4"/>
          <p:cNvSpPr/>
          <p:nvPr/>
        </p:nvSpPr>
        <p:spPr>
          <a:xfrm>
            <a:off x="3733800" y="34290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sweater</a:t>
            </a:r>
            <a:endParaRPr sz="1300"/>
          </a:p>
        </p:txBody>
      </p:sp>
      <p:sp>
        <p:nvSpPr>
          <p:cNvPr id="114" name="Google Shape;114;p4"/>
          <p:cNvSpPr/>
          <p:nvPr/>
        </p:nvSpPr>
        <p:spPr>
          <a:xfrm>
            <a:off x="3733800" y="41910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</a:t>
            </a:r>
            <a:endParaRPr sz="1300"/>
          </a:p>
        </p:txBody>
      </p:sp>
      <p:sp>
        <p:nvSpPr>
          <p:cNvPr id="115" name="Google Shape;115;p4"/>
          <p:cNvSpPr/>
          <p:nvPr/>
        </p:nvSpPr>
        <p:spPr>
          <a:xfrm>
            <a:off x="3505200" y="4953000"/>
            <a:ext cx="1295400" cy="4572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 glove</a:t>
            </a:r>
            <a:endParaRPr sz="1300"/>
          </a:p>
        </p:txBody>
      </p:sp>
      <p:sp>
        <p:nvSpPr>
          <p:cNvPr id="116" name="Google Shape;116;p4"/>
          <p:cNvSpPr/>
          <p:nvPr/>
        </p:nvSpPr>
        <p:spPr>
          <a:xfrm>
            <a:off x="3733800" y="5791200"/>
            <a:ext cx="8382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blocker</a:t>
            </a:r>
            <a:endParaRPr sz="1300"/>
          </a:p>
        </p:txBody>
      </p:sp>
      <p:sp>
        <p:nvSpPr>
          <p:cNvPr id="117" name="Google Shape;117;p4"/>
          <p:cNvSpPr/>
          <p:nvPr/>
        </p:nvSpPr>
        <p:spPr>
          <a:xfrm>
            <a:off x="5334000" y="1905000"/>
            <a:ext cx="1524000" cy="5334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batting glove</a:t>
            </a:r>
            <a:endParaRPr sz="1300"/>
          </a:p>
        </p:txBody>
      </p:sp>
      <p:cxnSp>
        <p:nvCxnSpPr>
          <p:cNvPr id="118" name="Google Shape;118;p4"/>
          <p:cNvCxnSpPr/>
          <p:nvPr/>
        </p:nvCxnSpPr>
        <p:spPr>
          <a:xfrm>
            <a:off x="1333500" y="2362200"/>
            <a:ext cx="388937" cy="4365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19" name="Google Shape;119;p4"/>
          <p:cNvCxnSpPr/>
          <p:nvPr/>
        </p:nvCxnSpPr>
        <p:spPr>
          <a:xfrm flipH="1">
            <a:off x="2316162" y="2362200"/>
            <a:ext cx="236537" cy="4365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0" name="Google Shape;120;p4"/>
          <p:cNvCxnSpPr/>
          <p:nvPr/>
        </p:nvCxnSpPr>
        <p:spPr>
          <a:xfrm>
            <a:off x="2019300" y="3124200"/>
            <a:ext cx="0" cy="355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1" name="Google Shape;121;p4"/>
          <p:cNvCxnSpPr/>
          <p:nvPr/>
        </p:nvCxnSpPr>
        <p:spPr>
          <a:xfrm>
            <a:off x="2019300" y="3860800"/>
            <a:ext cx="0" cy="355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2019300" y="4597400"/>
            <a:ext cx="38100" cy="355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3" name="Google Shape;123;p4"/>
          <p:cNvCxnSpPr/>
          <p:nvPr/>
        </p:nvCxnSpPr>
        <p:spPr>
          <a:xfrm>
            <a:off x="4152900" y="2286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4152900" y="31242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4152900" y="3810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6" name="Google Shape;126;p4"/>
          <p:cNvCxnSpPr/>
          <p:nvPr/>
        </p:nvCxnSpPr>
        <p:spPr>
          <a:xfrm>
            <a:off x="4152900" y="4572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4152900" y="54102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8" name="Google Shape;128;p4"/>
          <p:cNvCxnSpPr/>
          <p:nvPr/>
        </p:nvCxnSpPr>
        <p:spPr>
          <a:xfrm flipH="1">
            <a:off x="4611687" y="2438400"/>
            <a:ext cx="1484312" cy="25812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9" name="Google Shape;129;p4"/>
          <p:cNvCxnSpPr/>
          <p:nvPr/>
        </p:nvCxnSpPr>
        <p:spPr>
          <a:xfrm flipH="1" rot="10800000">
            <a:off x="2438400" y="3619500"/>
            <a:ext cx="1295400" cy="50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0" name="Google Shape;130;p4"/>
          <p:cNvCxnSpPr/>
          <p:nvPr/>
        </p:nvCxnSpPr>
        <p:spPr>
          <a:xfrm>
            <a:off x="2514600" y="5143500"/>
            <a:ext cx="990600" cy="38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Characterizing a DAG</a:t>
            </a:r>
            <a:endParaRPr/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152400" y="2362200"/>
            <a:ext cx="87630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None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⇒: Show that back edge ⇒ cycle.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there is a back edge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ancestor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depth-first forest.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there is a path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    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so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     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cycle.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228600" y="9144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228600" y="1066800"/>
            <a:ext cx="8275637" cy="835025"/>
          </a:xfrm>
          <a:prstGeom prst="rect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Lemma 22.11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graph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acyclic iff a DFS of G yields no back edges.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318686" y="4368114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693933" y="4355757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400543" y="4327010"/>
            <a:ext cx="381000" cy="1143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143000" y="52578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209800" y="52578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352800" y="52578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495800" y="52578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cxnSp>
        <p:nvCxnSpPr>
          <p:cNvPr id="147" name="Google Shape;147;p5"/>
          <p:cNvCxnSpPr/>
          <p:nvPr/>
        </p:nvCxnSpPr>
        <p:spPr>
          <a:xfrm>
            <a:off x="1524000" y="5448300"/>
            <a:ext cx="685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48" name="Google Shape;148;p5"/>
          <p:cNvCxnSpPr/>
          <p:nvPr/>
        </p:nvCxnSpPr>
        <p:spPr>
          <a:xfrm>
            <a:off x="2590800" y="5448300"/>
            <a:ext cx="762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49" name="Google Shape;149;p5"/>
          <p:cNvCxnSpPr/>
          <p:nvPr/>
        </p:nvCxnSpPr>
        <p:spPr>
          <a:xfrm>
            <a:off x="3733800" y="5448300"/>
            <a:ext cx="762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0" name="Google Shape;150;p5"/>
          <p:cNvCxnSpPr/>
          <p:nvPr/>
        </p:nvCxnSpPr>
        <p:spPr>
          <a:xfrm flipH="1">
            <a:off x="1333500" y="5638800"/>
            <a:ext cx="3352800" cy="1500"/>
          </a:xfrm>
          <a:prstGeom prst="curvedConnector3">
            <a:avLst>
              <a:gd fmla="val 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51" name="Google Shape;151;p5"/>
          <p:cNvSpPr txBox="1"/>
          <p:nvPr/>
        </p:nvSpPr>
        <p:spPr>
          <a:xfrm>
            <a:off x="1660525" y="5078412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2743200" y="5078412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3886200" y="5078412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2819400" y="5791200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FF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60" name="Google Shape;160;p6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Characterizing a DAG</a:t>
            </a:r>
            <a:endParaRPr/>
          </a:p>
        </p:txBody>
      </p:sp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0" y="2057400"/>
            <a:ext cx="87630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None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 (Contd.):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⇐ : Show that a cycle implies a back edge.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cycle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first vertex discovered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: preceding edge in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1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time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vertices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a white path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    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0" i="0" lang="en-US" sz="240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white-path theorem,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descendent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depth-first forest.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v)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back edge.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228600" y="9144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228600" y="1066800"/>
            <a:ext cx="8275637" cy="835025"/>
          </a:xfrm>
          <a:prstGeom prst="rect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Lemma 22.11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graph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acyclic iff a DFS of G yields no back edges.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400800" y="41148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029200" y="51816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096000" y="51816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239000" y="51816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382000" y="51816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cxnSp>
        <p:nvCxnSpPr>
          <p:cNvPr id="169" name="Google Shape;169;p6"/>
          <p:cNvCxnSpPr/>
          <p:nvPr/>
        </p:nvCxnSpPr>
        <p:spPr>
          <a:xfrm>
            <a:off x="5410200" y="5372100"/>
            <a:ext cx="685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0" name="Google Shape;170;p6"/>
          <p:cNvCxnSpPr/>
          <p:nvPr/>
        </p:nvCxnSpPr>
        <p:spPr>
          <a:xfrm>
            <a:off x="6477000" y="5372100"/>
            <a:ext cx="762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1" name="Google Shape;171;p6"/>
          <p:cNvCxnSpPr/>
          <p:nvPr/>
        </p:nvCxnSpPr>
        <p:spPr>
          <a:xfrm>
            <a:off x="7620000" y="5372100"/>
            <a:ext cx="762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2" name="Google Shape;172;p6"/>
          <p:cNvCxnSpPr/>
          <p:nvPr/>
        </p:nvCxnSpPr>
        <p:spPr>
          <a:xfrm flipH="1">
            <a:off x="5219699" y="5562600"/>
            <a:ext cx="3352800" cy="1500"/>
          </a:xfrm>
          <a:prstGeom prst="curvedConnector3">
            <a:avLst>
              <a:gd fmla="val 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73" name="Google Shape;173;p6"/>
          <p:cNvSpPr txBox="1"/>
          <p:nvPr/>
        </p:nvSpPr>
        <p:spPr>
          <a:xfrm>
            <a:off x="5546725" y="5002212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6629400" y="5002212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7772400" y="5002212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6705600" y="5715000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FF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82" name="Google Shape;182;p7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412750" y="1176337"/>
            <a:ext cx="594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 to “sort” a directed acyclic graph (DAG).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244975" y="1955800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370512" y="3054350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335587" y="1979612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187" name="Google Shape;187;p7"/>
          <p:cNvCxnSpPr/>
          <p:nvPr/>
        </p:nvCxnSpPr>
        <p:spPr>
          <a:xfrm>
            <a:off x="5599112" y="2443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88" name="Google Shape;188;p7"/>
          <p:cNvSpPr/>
          <p:nvPr/>
        </p:nvSpPr>
        <p:spPr>
          <a:xfrm>
            <a:off x="3122612" y="3063875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087687" y="1989137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cxnSp>
        <p:nvCxnSpPr>
          <p:cNvPr id="190" name="Google Shape;190;p7"/>
          <p:cNvCxnSpPr/>
          <p:nvPr/>
        </p:nvCxnSpPr>
        <p:spPr>
          <a:xfrm>
            <a:off x="3351212" y="245268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91" name="Google Shape;191;p7"/>
          <p:cNvCxnSpPr/>
          <p:nvPr/>
        </p:nvCxnSpPr>
        <p:spPr>
          <a:xfrm>
            <a:off x="3578225" y="221297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92" name="Google Shape;192;p7"/>
          <p:cNvCxnSpPr/>
          <p:nvPr/>
        </p:nvCxnSpPr>
        <p:spPr>
          <a:xfrm flipH="1">
            <a:off x="3606800" y="2414587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93" name="Google Shape;193;p7"/>
          <p:cNvSpPr/>
          <p:nvPr/>
        </p:nvSpPr>
        <p:spPr>
          <a:xfrm rot="5400000">
            <a:off x="4114006" y="3464718"/>
            <a:ext cx="976312" cy="485775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387850" y="4546600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611937" y="4579937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478462" y="4570412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2066925" y="4565650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230562" y="4579937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99" name="Google Shape;199;p7"/>
          <p:cNvCxnSpPr/>
          <p:nvPr/>
        </p:nvCxnSpPr>
        <p:spPr>
          <a:xfrm>
            <a:off x="3721100" y="480377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0" name="Google Shape;200;p7"/>
          <p:cNvCxnSpPr/>
          <p:nvPr/>
        </p:nvCxnSpPr>
        <p:spPr>
          <a:xfrm>
            <a:off x="2587625" y="481330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1" name="Google Shape;201;p7"/>
          <p:cNvCxnSpPr/>
          <p:nvPr/>
        </p:nvCxnSpPr>
        <p:spPr>
          <a:xfrm>
            <a:off x="5959475" y="481330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02" name="Google Shape;202;p7"/>
          <p:cNvSpPr/>
          <p:nvPr/>
        </p:nvSpPr>
        <p:spPr>
          <a:xfrm>
            <a:off x="2416175" y="4300537"/>
            <a:ext cx="2135187" cy="274637"/>
          </a:xfrm>
          <a:custGeom>
            <a:rect b="b" l="l" r="r" t="t"/>
            <a:pathLst>
              <a:path extrusionOk="0" h="173" w="1345">
                <a:moveTo>
                  <a:pt x="0" y="173"/>
                </a:moveTo>
                <a:cubicBezTo>
                  <a:pt x="104" y="122"/>
                  <a:pt x="209" y="72"/>
                  <a:pt x="363" y="46"/>
                </a:cubicBezTo>
                <a:cubicBezTo>
                  <a:pt x="517" y="20"/>
                  <a:pt x="763" y="0"/>
                  <a:pt x="927" y="18"/>
                </a:cubicBezTo>
                <a:cubicBezTo>
                  <a:pt x="1091" y="36"/>
                  <a:pt x="1218" y="95"/>
                  <a:pt x="1345" y="155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542925" y="5287962"/>
            <a:ext cx="622776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original DAG as a </a:t>
            </a:r>
            <a:r>
              <a:rPr b="1" i="0" lang="en-US" sz="2400" u="sng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 order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 a </a:t>
            </a:r>
            <a:r>
              <a:rPr b="1" i="0" lang="en-US" sz="2400" u="sng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order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extends this partial order.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09" name="Google Shape;209;p8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/>
          </a:p>
        </p:txBody>
      </p:sp>
      <p:sp>
        <p:nvSpPr>
          <p:cNvPr id="210" name="Google Shape;210;p8"/>
          <p:cNvSpPr txBox="1"/>
          <p:nvPr>
            <p:ph idx="1" type="body"/>
          </p:nvPr>
        </p:nvSpPr>
        <p:spPr>
          <a:xfrm>
            <a:off x="152400" y="1219200"/>
            <a:ext cx="8763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Performed on a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ordering of the vertices of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that if 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∈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appears somewhere before 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52400" y="2895600"/>
            <a:ext cx="8534400" cy="1905000"/>
          </a:xfrm>
          <a:prstGeom prst="rect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Topological-Sort </a:t>
            </a: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DFS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compute finishing times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for all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each vertex is finished, insert it onto the front of a linked list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linked list of vertices</a:t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381000" y="5175250"/>
            <a:ext cx="30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381000" y="5791200"/>
            <a:ext cx="2732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board.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19" name="Google Shape;219;p9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23" name="Google Shape;223;p9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24" name="Google Shape;224;p9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26" name="Google Shape;226;p9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7" name="Google Shape;227;p9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8" name="Google Shape;228;p9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29" name="Google Shape;229;p9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5434012" y="2344737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2667000" y="838200"/>
            <a:ext cx="4273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(Courtesy of Prof. Jim Anderson)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42" name="Google Shape;242;p10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46" name="Google Shape;246;p10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7" name="Google Shape;247;p10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49" name="Google Shape;249;p10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0" name="Google Shape;250;p10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1" name="Google Shape;251;p10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52" name="Google Shape;252;p10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54" name="Google Shape;254;p10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5434012" y="2344737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5464175" y="3441700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65" name="Google Shape;265;p11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69" name="Google Shape;269;p11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0" name="Google Shape;270;p11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72" name="Google Shape;272;p11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3" name="Google Shape;273;p11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4" name="Google Shape;274;p11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5" name="Google Shape;275;p11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5434012" y="2344737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84" name="Google Shape;284;p11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285" name="Google Shape;285;p11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91" name="Google Shape;291;p12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95" name="Google Shape;295;p12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96" name="Google Shape;296;p12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298" name="Google Shape;298;p12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99" name="Google Shape;299;p12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00" name="Google Shape;300;p12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01" name="Google Shape;301;p12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302" name="Google Shape;302;p12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5348287" y="23447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3959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3943350" y="52403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cxnSp>
        <p:nvCxnSpPr>
          <p:cNvPr id="314" name="Google Shape;314;p12"/>
          <p:cNvCxnSpPr/>
          <p:nvPr/>
        </p:nvCxnSpPr>
        <p:spPr>
          <a:xfrm>
            <a:off x="4471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5" name="Google Shape;315;p12"/>
          <p:cNvSpPr txBox="1"/>
          <p:nvPr/>
        </p:nvSpPr>
        <p:spPr>
          <a:xfrm>
            <a:off x="4024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21" name="Google Shape;321;p13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325" name="Google Shape;325;p13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26" name="Google Shape;326;p13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328" name="Google Shape;328;p13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9" name="Google Shape;329;p13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0" name="Google Shape;330;p13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31" name="Google Shape;331;p13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332" name="Google Shape;332;p13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35" name="Google Shape;335;p13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36" name="Google Shape;336;p13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37" name="Google Shape;337;p13"/>
          <p:cNvSpPr txBox="1"/>
          <p:nvPr/>
        </p:nvSpPr>
        <p:spPr>
          <a:xfrm>
            <a:off x="5348287" y="23447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sp>
        <p:nvSpPr>
          <p:cNvPr id="338" name="Google Shape;338;p13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40" name="Google Shape;340;p13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41" name="Google Shape;341;p13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3959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3943350" y="52403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cxnSp>
        <p:nvCxnSpPr>
          <p:cNvPr id="344" name="Google Shape;344;p13"/>
          <p:cNvCxnSpPr/>
          <p:nvPr/>
        </p:nvCxnSpPr>
        <p:spPr>
          <a:xfrm>
            <a:off x="4471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5" name="Google Shape;345;p13"/>
          <p:cNvSpPr txBox="1"/>
          <p:nvPr/>
        </p:nvSpPr>
        <p:spPr>
          <a:xfrm>
            <a:off x="4024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4324350" y="2330450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52" name="Google Shape;352;p14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356" name="Google Shape;356;p14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7" name="Google Shape;357;p14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359" name="Google Shape;359;p14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0" name="Google Shape;360;p14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1" name="Google Shape;361;p14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62" name="Google Shape;362;p14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363" name="Google Shape;363;p14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65" name="Google Shape;365;p14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68" name="Google Shape;368;p14"/>
          <p:cNvSpPr txBox="1"/>
          <p:nvPr/>
        </p:nvSpPr>
        <p:spPr>
          <a:xfrm>
            <a:off x="5348287" y="23447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sp>
        <p:nvSpPr>
          <p:cNvPr id="369" name="Google Shape;369;p14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3959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74" name="Google Shape;374;p14"/>
          <p:cNvSpPr txBox="1"/>
          <p:nvPr/>
        </p:nvSpPr>
        <p:spPr>
          <a:xfrm>
            <a:off x="3943350" y="52403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cxnSp>
        <p:nvCxnSpPr>
          <p:cNvPr id="375" name="Google Shape;375;p14"/>
          <p:cNvCxnSpPr/>
          <p:nvPr/>
        </p:nvCxnSpPr>
        <p:spPr>
          <a:xfrm>
            <a:off x="4471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76" name="Google Shape;376;p14"/>
          <p:cNvSpPr txBox="1"/>
          <p:nvPr/>
        </p:nvSpPr>
        <p:spPr>
          <a:xfrm>
            <a:off x="4024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77" name="Google Shape;377;p14"/>
          <p:cNvSpPr txBox="1"/>
          <p:nvPr/>
        </p:nvSpPr>
        <p:spPr>
          <a:xfrm>
            <a:off x="4324350" y="2330450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</a:t>
            </a:r>
            <a:endParaRPr/>
          </a:p>
        </p:txBody>
      </p:sp>
      <p:sp>
        <p:nvSpPr>
          <p:cNvPr id="378" name="Google Shape;378;p14"/>
          <p:cNvSpPr txBox="1"/>
          <p:nvPr/>
        </p:nvSpPr>
        <p:spPr>
          <a:xfrm>
            <a:off x="3198812" y="342741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84" name="Google Shape;384;p15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388" name="Google Shape;388;p15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89" name="Google Shape;389;p15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391" name="Google Shape;391;p15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92" name="Google Shape;392;p15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93" name="Google Shape;393;p15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94" name="Google Shape;394;p15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395" name="Google Shape;395;p15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96" name="Google Shape;396;p15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98" name="Google Shape;398;p15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5348287" y="23447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sp>
        <p:nvSpPr>
          <p:cNvPr id="401" name="Google Shape;401;p15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04" name="Google Shape;404;p15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3959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06" name="Google Shape;406;p15"/>
          <p:cNvSpPr txBox="1"/>
          <p:nvPr/>
        </p:nvSpPr>
        <p:spPr>
          <a:xfrm>
            <a:off x="3943350" y="52403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cxnSp>
        <p:nvCxnSpPr>
          <p:cNvPr id="407" name="Google Shape;407;p15"/>
          <p:cNvCxnSpPr/>
          <p:nvPr/>
        </p:nvCxnSpPr>
        <p:spPr>
          <a:xfrm>
            <a:off x="4471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08" name="Google Shape;408;p15"/>
          <p:cNvSpPr txBox="1"/>
          <p:nvPr/>
        </p:nvSpPr>
        <p:spPr>
          <a:xfrm>
            <a:off x="4024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09" name="Google Shape;409;p15"/>
          <p:cNvSpPr txBox="1"/>
          <p:nvPr/>
        </p:nvSpPr>
        <p:spPr>
          <a:xfrm>
            <a:off x="4324350" y="2330450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</a:t>
            </a:r>
            <a:endParaRPr/>
          </a:p>
        </p:txBody>
      </p:sp>
      <p:sp>
        <p:nvSpPr>
          <p:cNvPr id="410" name="Google Shape;410;p15"/>
          <p:cNvSpPr txBox="1"/>
          <p:nvPr/>
        </p:nvSpPr>
        <p:spPr>
          <a:xfrm>
            <a:off x="311308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2825750" y="52419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2809875" y="5235575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cxnSp>
        <p:nvCxnSpPr>
          <p:cNvPr id="413" name="Google Shape;413;p15"/>
          <p:cNvCxnSpPr/>
          <p:nvPr/>
        </p:nvCxnSpPr>
        <p:spPr>
          <a:xfrm>
            <a:off x="3338512" y="5465762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14" name="Google Shape;414;p15"/>
          <p:cNvSpPr txBox="1"/>
          <p:nvPr/>
        </p:nvSpPr>
        <p:spPr>
          <a:xfrm>
            <a:off x="2890837" y="5673725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420" name="Google Shape;420;p16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424" name="Google Shape;424;p16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25" name="Google Shape;425;p16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427" name="Google Shape;427;p16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28" name="Google Shape;428;p16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29" name="Google Shape;429;p16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0" name="Google Shape;430;p16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431" name="Google Shape;431;p16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432" name="Google Shape;432;p16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433" name="Google Shape;433;p16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34" name="Google Shape;434;p16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435" name="Google Shape;435;p16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36" name="Google Shape;436;p16"/>
          <p:cNvSpPr txBox="1"/>
          <p:nvPr/>
        </p:nvSpPr>
        <p:spPr>
          <a:xfrm>
            <a:off x="5348287" y="23447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sp>
        <p:nvSpPr>
          <p:cNvPr id="437" name="Google Shape;437;p16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39" name="Google Shape;439;p16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3959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42" name="Google Shape;442;p16"/>
          <p:cNvSpPr txBox="1"/>
          <p:nvPr/>
        </p:nvSpPr>
        <p:spPr>
          <a:xfrm>
            <a:off x="3943350" y="52403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cxnSp>
        <p:nvCxnSpPr>
          <p:cNvPr id="443" name="Google Shape;443;p16"/>
          <p:cNvCxnSpPr/>
          <p:nvPr/>
        </p:nvCxnSpPr>
        <p:spPr>
          <a:xfrm>
            <a:off x="4471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44" name="Google Shape;444;p16"/>
          <p:cNvSpPr txBox="1"/>
          <p:nvPr/>
        </p:nvSpPr>
        <p:spPr>
          <a:xfrm>
            <a:off x="4024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45" name="Google Shape;445;p16"/>
          <p:cNvSpPr txBox="1"/>
          <p:nvPr/>
        </p:nvSpPr>
        <p:spPr>
          <a:xfrm>
            <a:off x="4238625" y="233045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5/8</a:t>
            </a:r>
            <a:endParaRPr/>
          </a:p>
        </p:txBody>
      </p:sp>
      <p:sp>
        <p:nvSpPr>
          <p:cNvPr id="446" name="Google Shape;446;p16"/>
          <p:cNvSpPr txBox="1"/>
          <p:nvPr/>
        </p:nvSpPr>
        <p:spPr>
          <a:xfrm>
            <a:off x="311308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2825750" y="52419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48" name="Google Shape;448;p16"/>
          <p:cNvSpPr txBox="1"/>
          <p:nvPr/>
        </p:nvSpPr>
        <p:spPr>
          <a:xfrm>
            <a:off x="2809875" y="5235575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cxnSp>
        <p:nvCxnSpPr>
          <p:cNvPr id="449" name="Google Shape;449;p16"/>
          <p:cNvCxnSpPr/>
          <p:nvPr/>
        </p:nvCxnSpPr>
        <p:spPr>
          <a:xfrm>
            <a:off x="3338512" y="5465762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50" name="Google Shape;450;p16"/>
          <p:cNvSpPr txBox="1"/>
          <p:nvPr/>
        </p:nvSpPr>
        <p:spPr>
          <a:xfrm>
            <a:off x="2890837" y="5673725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1677987" y="5251450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52" name="Google Shape;452;p16"/>
          <p:cNvSpPr txBox="1"/>
          <p:nvPr/>
        </p:nvSpPr>
        <p:spPr>
          <a:xfrm>
            <a:off x="1633537" y="525938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5/8</a:t>
            </a:r>
            <a:endParaRPr/>
          </a:p>
        </p:txBody>
      </p:sp>
      <p:cxnSp>
        <p:nvCxnSpPr>
          <p:cNvPr id="453" name="Google Shape;453;p16"/>
          <p:cNvCxnSpPr/>
          <p:nvPr/>
        </p:nvCxnSpPr>
        <p:spPr>
          <a:xfrm>
            <a:off x="2190750" y="5475287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54" name="Google Shape;454;p16"/>
          <p:cNvSpPr txBox="1"/>
          <p:nvPr/>
        </p:nvSpPr>
        <p:spPr>
          <a:xfrm>
            <a:off x="1743075" y="568325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460" name="Google Shape;460;p17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464" name="Google Shape;464;p17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5" name="Google Shape;465;p17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467" name="Google Shape;467;p17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68" name="Google Shape;468;p17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69" name="Google Shape;469;p17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70" name="Google Shape;470;p17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471" name="Google Shape;471;p17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472" name="Google Shape;472;p17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473" name="Google Shape;473;p17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74" name="Google Shape;474;p17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475" name="Google Shape;475;p17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76" name="Google Shape;476;p17"/>
          <p:cNvSpPr txBox="1"/>
          <p:nvPr/>
        </p:nvSpPr>
        <p:spPr>
          <a:xfrm>
            <a:off x="5348287" y="23447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79" name="Google Shape;479;p17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80" name="Google Shape;480;p17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3959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82" name="Google Shape;482;p17"/>
          <p:cNvSpPr txBox="1"/>
          <p:nvPr/>
        </p:nvSpPr>
        <p:spPr>
          <a:xfrm>
            <a:off x="3943350" y="52403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cxnSp>
        <p:nvCxnSpPr>
          <p:cNvPr id="483" name="Google Shape;483;p17"/>
          <p:cNvCxnSpPr/>
          <p:nvPr/>
        </p:nvCxnSpPr>
        <p:spPr>
          <a:xfrm>
            <a:off x="4471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84" name="Google Shape;484;p17"/>
          <p:cNvSpPr txBox="1"/>
          <p:nvPr/>
        </p:nvSpPr>
        <p:spPr>
          <a:xfrm>
            <a:off x="4024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85" name="Google Shape;485;p17"/>
          <p:cNvSpPr txBox="1"/>
          <p:nvPr/>
        </p:nvSpPr>
        <p:spPr>
          <a:xfrm>
            <a:off x="4238625" y="233045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5/8</a:t>
            </a:r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311308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2825750" y="52419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88" name="Google Shape;488;p17"/>
          <p:cNvSpPr txBox="1"/>
          <p:nvPr/>
        </p:nvSpPr>
        <p:spPr>
          <a:xfrm>
            <a:off x="2809875" y="5235575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cxnSp>
        <p:nvCxnSpPr>
          <p:cNvPr id="489" name="Google Shape;489;p17"/>
          <p:cNvCxnSpPr/>
          <p:nvPr/>
        </p:nvCxnSpPr>
        <p:spPr>
          <a:xfrm>
            <a:off x="3338512" y="5465762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90" name="Google Shape;490;p17"/>
          <p:cNvSpPr txBox="1"/>
          <p:nvPr/>
        </p:nvSpPr>
        <p:spPr>
          <a:xfrm>
            <a:off x="2890837" y="5673725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1677987" y="5251450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92" name="Google Shape;492;p17"/>
          <p:cNvSpPr txBox="1"/>
          <p:nvPr/>
        </p:nvSpPr>
        <p:spPr>
          <a:xfrm>
            <a:off x="1633537" y="525938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5/8</a:t>
            </a:r>
            <a:endParaRPr/>
          </a:p>
        </p:txBody>
      </p:sp>
      <p:cxnSp>
        <p:nvCxnSpPr>
          <p:cNvPr id="493" name="Google Shape;493;p17"/>
          <p:cNvCxnSpPr/>
          <p:nvPr/>
        </p:nvCxnSpPr>
        <p:spPr>
          <a:xfrm>
            <a:off x="2190750" y="5475287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94" name="Google Shape;494;p17"/>
          <p:cNvSpPr txBox="1"/>
          <p:nvPr/>
        </p:nvSpPr>
        <p:spPr>
          <a:xfrm>
            <a:off x="1743075" y="568325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495" name="Google Shape;495;p17"/>
          <p:cNvSpPr txBox="1"/>
          <p:nvPr/>
        </p:nvSpPr>
        <p:spPr>
          <a:xfrm>
            <a:off x="3127375" y="237331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501" name="Google Shape;501;p18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4273550" y="232727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03" name="Google Shape;503;p18"/>
          <p:cNvSpPr/>
          <p:nvPr/>
        </p:nvSpPr>
        <p:spPr>
          <a:xfrm>
            <a:off x="5399087" y="34258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5364162" y="23510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505" name="Google Shape;505;p18"/>
          <p:cNvCxnSpPr/>
          <p:nvPr/>
        </p:nvCxnSpPr>
        <p:spPr>
          <a:xfrm>
            <a:off x="5627687" y="2814637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06" name="Google Shape;506;p18"/>
          <p:cNvSpPr/>
          <p:nvPr/>
        </p:nvSpPr>
        <p:spPr>
          <a:xfrm>
            <a:off x="3151187" y="3435350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07" name="Google Shape;507;p18"/>
          <p:cNvSpPr/>
          <p:nvPr/>
        </p:nvSpPr>
        <p:spPr>
          <a:xfrm>
            <a:off x="3116262" y="2360612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508" name="Google Shape;508;p18"/>
          <p:cNvCxnSpPr/>
          <p:nvPr/>
        </p:nvCxnSpPr>
        <p:spPr>
          <a:xfrm>
            <a:off x="3379787" y="2824162"/>
            <a:ext cx="0" cy="606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09" name="Google Shape;509;p18"/>
          <p:cNvCxnSpPr/>
          <p:nvPr/>
        </p:nvCxnSpPr>
        <p:spPr>
          <a:xfrm>
            <a:off x="3606800" y="2584450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10" name="Google Shape;510;p18"/>
          <p:cNvCxnSpPr/>
          <p:nvPr/>
        </p:nvCxnSpPr>
        <p:spPr>
          <a:xfrm flipH="1">
            <a:off x="3635375" y="2786062"/>
            <a:ext cx="823912" cy="822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11" name="Google Shape;511;p18"/>
          <p:cNvSpPr txBox="1"/>
          <p:nvPr/>
        </p:nvSpPr>
        <p:spPr>
          <a:xfrm>
            <a:off x="3565525" y="4654550"/>
            <a:ext cx="1801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List:</a:t>
            </a:r>
            <a:endParaRPr/>
          </a:p>
        </p:txBody>
      </p:sp>
      <p:sp>
        <p:nvSpPr>
          <p:cNvPr id="512" name="Google Shape;512;p18"/>
          <p:cNvSpPr txBox="1"/>
          <p:nvPr/>
        </p:nvSpPr>
        <p:spPr>
          <a:xfrm>
            <a:off x="3168650" y="191135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513" name="Google Shape;513;p18"/>
          <p:cNvSpPr txBox="1"/>
          <p:nvPr/>
        </p:nvSpPr>
        <p:spPr>
          <a:xfrm>
            <a:off x="4306887" y="19065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514" name="Google Shape;514;p18"/>
          <p:cNvSpPr txBox="1"/>
          <p:nvPr/>
        </p:nvSpPr>
        <p:spPr>
          <a:xfrm>
            <a:off x="5402262" y="1930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515" name="Google Shape;515;p18"/>
          <p:cNvSpPr txBox="1"/>
          <p:nvPr/>
        </p:nvSpPr>
        <p:spPr>
          <a:xfrm>
            <a:off x="3192462" y="38354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516" name="Google Shape;516;p18"/>
          <p:cNvSpPr txBox="1"/>
          <p:nvPr/>
        </p:nvSpPr>
        <p:spPr>
          <a:xfrm>
            <a:off x="5426075" y="3854450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517" name="Google Shape;517;p18"/>
          <p:cNvSpPr txBox="1"/>
          <p:nvPr/>
        </p:nvSpPr>
        <p:spPr>
          <a:xfrm>
            <a:off x="5348287" y="23447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sp>
        <p:nvSpPr>
          <p:cNvPr id="518" name="Google Shape;518;p18"/>
          <p:cNvSpPr txBox="1"/>
          <p:nvPr/>
        </p:nvSpPr>
        <p:spPr>
          <a:xfrm>
            <a:off x="539273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5122862" y="52212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20" name="Google Shape;520;p18"/>
          <p:cNvSpPr txBox="1"/>
          <p:nvPr/>
        </p:nvSpPr>
        <p:spPr>
          <a:xfrm>
            <a:off x="5149850" y="5649912"/>
            <a:ext cx="369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521" name="Google Shape;521;p18"/>
          <p:cNvSpPr txBox="1"/>
          <p:nvPr/>
        </p:nvSpPr>
        <p:spPr>
          <a:xfrm>
            <a:off x="5116512" y="5237162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2/3</a:t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3959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23" name="Google Shape;523;p18"/>
          <p:cNvSpPr txBox="1"/>
          <p:nvPr/>
        </p:nvSpPr>
        <p:spPr>
          <a:xfrm>
            <a:off x="3943350" y="524033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1/4</a:t>
            </a:r>
            <a:endParaRPr/>
          </a:p>
        </p:txBody>
      </p:sp>
      <p:cxnSp>
        <p:nvCxnSpPr>
          <p:cNvPr id="524" name="Google Shape;524;p18"/>
          <p:cNvCxnSpPr/>
          <p:nvPr/>
        </p:nvCxnSpPr>
        <p:spPr>
          <a:xfrm>
            <a:off x="4471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25" name="Google Shape;525;p18"/>
          <p:cNvSpPr txBox="1"/>
          <p:nvPr/>
        </p:nvSpPr>
        <p:spPr>
          <a:xfrm>
            <a:off x="4024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526" name="Google Shape;526;p18"/>
          <p:cNvSpPr txBox="1"/>
          <p:nvPr/>
        </p:nvSpPr>
        <p:spPr>
          <a:xfrm>
            <a:off x="4238625" y="233045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5/8</a:t>
            </a:r>
            <a:endParaRPr/>
          </a:p>
        </p:txBody>
      </p:sp>
      <p:sp>
        <p:nvSpPr>
          <p:cNvPr id="527" name="Google Shape;527;p18"/>
          <p:cNvSpPr txBox="1"/>
          <p:nvPr/>
        </p:nvSpPr>
        <p:spPr>
          <a:xfrm>
            <a:off x="3113087" y="34417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sp>
        <p:nvSpPr>
          <p:cNvPr id="528" name="Google Shape;528;p18"/>
          <p:cNvSpPr/>
          <p:nvPr/>
        </p:nvSpPr>
        <p:spPr>
          <a:xfrm>
            <a:off x="2825750" y="5241925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29" name="Google Shape;529;p18"/>
          <p:cNvSpPr txBox="1"/>
          <p:nvPr/>
        </p:nvSpPr>
        <p:spPr>
          <a:xfrm>
            <a:off x="2809875" y="5235575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6/7</a:t>
            </a:r>
            <a:endParaRPr/>
          </a:p>
        </p:txBody>
      </p:sp>
      <p:cxnSp>
        <p:nvCxnSpPr>
          <p:cNvPr id="530" name="Google Shape;530;p18"/>
          <p:cNvCxnSpPr/>
          <p:nvPr/>
        </p:nvCxnSpPr>
        <p:spPr>
          <a:xfrm>
            <a:off x="3338512" y="5465762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31" name="Google Shape;531;p18"/>
          <p:cNvSpPr txBox="1"/>
          <p:nvPr/>
        </p:nvSpPr>
        <p:spPr>
          <a:xfrm>
            <a:off x="2890837" y="5673725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1677987" y="5251450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33" name="Google Shape;533;p18"/>
          <p:cNvSpPr txBox="1"/>
          <p:nvPr/>
        </p:nvSpPr>
        <p:spPr>
          <a:xfrm>
            <a:off x="1633537" y="5259387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5/8</a:t>
            </a:r>
            <a:endParaRPr/>
          </a:p>
        </p:txBody>
      </p:sp>
      <p:cxnSp>
        <p:nvCxnSpPr>
          <p:cNvPr id="534" name="Google Shape;534;p18"/>
          <p:cNvCxnSpPr/>
          <p:nvPr/>
        </p:nvCxnSpPr>
        <p:spPr>
          <a:xfrm>
            <a:off x="2190750" y="5475287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35" name="Google Shape;535;p18"/>
          <p:cNvSpPr txBox="1"/>
          <p:nvPr/>
        </p:nvSpPr>
        <p:spPr>
          <a:xfrm>
            <a:off x="1743075" y="568325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536" name="Google Shape;536;p18"/>
          <p:cNvSpPr txBox="1"/>
          <p:nvPr/>
        </p:nvSpPr>
        <p:spPr>
          <a:xfrm>
            <a:off x="3055937" y="2422525"/>
            <a:ext cx="63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9/10</a:t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530225" y="5246687"/>
            <a:ext cx="504825" cy="476250"/>
          </a:xfrm>
          <a:prstGeom prst="ellipse">
            <a:avLst/>
          </a:prstGeom>
          <a:solidFill>
            <a:srgbClr val="339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38" name="Google Shape;538;p18"/>
          <p:cNvSpPr txBox="1"/>
          <p:nvPr/>
        </p:nvSpPr>
        <p:spPr>
          <a:xfrm>
            <a:off x="485775" y="5303837"/>
            <a:ext cx="63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9/10</a:t>
            </a:r>
            <a:endParaRPr/>
          </a:p>
        </p:txBody>
      </p:sp>
      <p:cxnSp>
        <p:nvCxnSpPr>
          <p:cNvPr id="539" name="Google Shape;539;p18"/>
          <p:cNvCxnSpPr/>
          <p:nvPr/>
        </p:nvCxnSpPr>
        <p:spPr>
          <a:xfrm>
            <a:off x="1042987" y="5470525"/>
            <a:ext cx="649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40" name="Google Shape;540;p18"/>
          <p:cNvSpPr txBox="1"/>
          <p:nvPr/>
        </p:nvSpPr>
        <p:spPr>
          <a:xfrm>
            <a:off x="595312" y="567848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546" name="Google Shape;546;p19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 Proof</a:t>
            </a:r>
            <a:endParaRPr/>
          </a:p>
        </p:txBody>
      </p:sp>
      <p:sp>
        <p:nvSpPr>
          <p:cNvPr id="547" name="Google Shape;547;p19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need to show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</a:t>
            </a:r>
            <a:r>
              <a:rPr b="0" i="1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1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explore 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colors of </a:t>
            </a:r>
            <a:r>
              <a:rPr b="0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gray.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0" i="1" lang="en-US" sz="2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too?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then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be ancestor of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back edge.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contradiction of Lemma 22.11 (dag has no back edges).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0" i="1" lang="en-US" sz="2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becomes descendant of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parenthesis theorem,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1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0" i="1" lang="en-US" sz="2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already finished.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we’re exploring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have not yet finished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553" name="Google Shape;553;p20"/>
          <p:cNvSpPr txBox="1"/>
          <p:nvPr/>
        </p:nvSpPr>
        <p:spPr>
          <a:xfrm>
            <a:off x="4495800" y="4572000"/>
            <a:ext cx="609600" cy="68580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20"/>
          <p:cNvSpPr txBox="1"/>
          <p:nvPr/>
        </p:nvSpPr>
        <p:spPr>
          <a:xfrm>
            <a:off x="5486400" y="3657600"/>
            <a:ext cx="914400" cy="160020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20"/>
          <p:cNvSpPr txBox="1"/>
          <p:nvPr/>
        </p:nvSpPr>
        <p:spPr>
          <a:xfrm>
            <a:off x="4343400" y="3657600"/>
            <a:ext cx="762000" cy="76200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3200400" y="3657600"/>
            <a:ext cx="1143000" cy="160020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20"/>
          <p:cNvSpPr txBox="1"/>
          <p:nvPr/>
        </p:nvSpPr>
        <p:spPr>
          <a:xfrm>
            <a:off x="914400" y="3657600"/>
            <a:ext cx="1905000" cy="1676400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20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Components</a:t>
            </a:r>
            <a:endParaRPr/>
          </a:p>
        </p:txBody>
      </p:sp>
      <p:sp>
        <p:nvSpPr>
          <p:cNvPr id="559" name="Google Shape;559;p20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strongly connected if every pair 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of vertices in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reachable from one another.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</a:t>
            </a:r>
            <a:r>
              <a:rPr b="1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of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maximal set of vertices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⊆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for all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v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both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  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v   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exist.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1524000" y="29718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3009900" y="29718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0668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22479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1066800" y="47244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2247900" y="47244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34290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46101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3429000" y="47244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4610100" y="47244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57912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5791200" y="47244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72" name="Google Shape;572;p20"/>
          <p:cNvCxnSpPr/>
          <p:nvPr/>
        </p:nvCxnSpPr>
        <p:spPr>
          <a:xfrm>
            <a:off x="1447800" y="4000500"/>
            <a:ext cx="80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3" name="Google Shape;573;p20"/>
          <p:cNvCxnSpPr/>
          <p:nvPr/>
        </p:nvCxnSpPr>
        <p:spPr>
          <a:xfrm>
            <a:off x="1257300" y="41910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4" name="Google Shape;574;p20"/>
          <p:cNvCxnSpPr/>
          <p:nvPr/>
        </p:nvCxnSpPr>
        <p:spPr>
          <a:xfrm>
            <a:off x="2438400" y="41910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5" name="Google Shape;575;p20"/>
          <p:cNvCxnSpPr/>
          <p:nvPr/>
        </p:nvCxnSpPr>
        <p:spPr>
          <a:xfrm>
            <a:off x="1447800" y="4914900"/>
            <a:ext cx="80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6" name="Google Shape;576;p20"/>
          <p:cNvCxnSpPr/>
          <p:nvPr/>
        </p:nvCxnSpPr>
        <p:spPr>
          <a:xfrm rot="10800000">
            <a:off x="1392237" y="4135437"/>
            <a:ext cx="911225" cy="6445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7" name="Google Shape;577;p20"/>
          <p:cNvCxnSpPr/>
          <p:nvPr/>
        </p:nvCxnSpPr>
        <p:spPr>
          <a:xfrm>
            <a:off x="3810000" y="4000500"/>
            <a:ext cx="80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8" name="Google Shape;578;p20"/>
          <p:cNvCxnSpPr/>
          <p:nvPr/>
        </p:nvCxnSpPr>
        <p:spPr>
          <a:xfrm flipH="1">
            <a:off x="3754437" y="4191000"/>
            <a:ext cx="1046162" cy="588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9" name="Google Shape;579;p20"/>
          <p:cNvCxnSpPr/>
          <p:nvPr/>
        </p:nvCxnSpPr>
        <p:spPr>
          <a:xfrm rot="10800000">
            <a:off x="3619500" y="41910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0" name="Google Shape;580;p20"/>
          <p:cNvCxnSpPr/>
          <p:nvPr/>
        </p:nvCxnSpPr>
        <p:spPr>
          <a:xfrm rot="5400000">
            <a:off x="3162300" y="4457700"/>
            <a:ext cx="64452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1" name="Google Shape;581;p20"/>
          <p:cNvCxnSpPr/>
          <p:nvPr/>
        </p:nvCxnSpPr>
        <p:spPr>
          <a:xfrm>
            <a:off x="4800600" y="41910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2" name="Google Shape;582;p20"/>
          <p:cNvCxnSpPr/>
          <p:nvPr/>
        </p:nvCxnSpPr>
        <p:spPr>
          <a:xfrm rot="5400000">
            <a:off x="5524500" y="4457700"/>
            <a:ext cx="64452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3" name="Google Shape;583;p20"/>
          <p:cNvCxnSpPr/>
          <p:nvPr/>
        </p:nvCxnSpPr>
        <p:spPr>
          <a:xfrm rot="-5400000">
            <a:off x="5794375" y="4457700"/>
            <a:ext cx="64452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4" name="Google Shape;584;p20"/>
          <p:cNvCxnSpPr/>
          <p:nvPr/>
        </p:nvCxnSpPr>
        <p:spPr>
          <a:xfrm>
            <a:off x="4991100" y="4000500"/>
            <a:ext cx="80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5" name="Google Shape;585;p20"/>
          <p:cNvCxnSpPr/>
          <p:nvPr/>
        </p:nvCxnSpPr>
        <p:spPr>
          <a:xfrm>
            <a:off x="4935537" y="4135437"/>
            <a:ext cx="911225" cy="6445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6" name="Google Shape;586;p20"/>
          <p:cNvCxnSpPr/>
          <p:nvPr/>
        </p:nvCxnSpPr>
        <p:spPr>
          <a:xfrm>
            <a:off x="4991100" y="4914900"/>
            <a:ext cx="80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7" name="Google Shape;587;p20"/>
          <p:cNvCxnSpPr/>
          <p:nvPr/>
        </p:nvCxnSpPr>
        <p:spPr>
          <a:xfrm>
            <a:off x="2628900" y="4000500"/>
            <a:ext cx="80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8" name="Google Shape;588;p20"/>
          <p:cNvCxnSpPr/>
          <p:nvPr/>
        </p:nvCxnSpPr>
        <p:spPr>
          <a:xfrm>
            <a:off x="2628900" y="4914900"/>
            <a:ext cx="80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89" name="Google Shape;589;p20"/>
          <p:cNvCxnSpPr/>
          <p:nvPr/>
        </p:nvCxnSpPr>
        <p:spPr>
          <a:xfrm>
            <a:off x="4343400" y="3657600"/>
            <a:ext cx="0" cy="762000"/>
          </a:xfrm>
          <a:prstGeom prst="straightConnector1">
            <a:avLst/>
          </a:prstGeom>
          <a:noFill/>
          <a:ln cap="flat" cmpd="sng" w="12700">
            <a:solidFill>
              <a:srgbClr val="FFCCFF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595" name="Google Shape;595;p21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Graph</a:t>
            </a:r>
            <a:endParaRPr/>
          </a:p>
        </p:txBody>
      </p:sp>
      <p:sp>
        <p:nvSpPr>
          <p:cNvPr id="596" name="Google Shape;596;p21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one vertex for each SCC in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an edge if there’s an edge between the corresponding SCC’s in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example considered: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10668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23622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3962400" y="38100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3048000" y="4724400"/>
            <a:ext cx="381000" cy="381000"/>
          </a:xfrm>
          <a:prstGeom prst="ellipse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01" name="Google Shape;601;p21"/>
          <p:cNvCxnSpPr/>
          <p:nvPr/>
        </p:nvCxnSpPr>
        <p:spPr>
          <a:xfrm>
            <a:off x="1447800" y="40005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2" name="Google Shape;602;p21"/>
          <p:cNvCxnSpPr/>
          <p:nvPr/>
        </p:nvCxnSpPr>
        <p:spPr>
          <a:xfrm>
            <a:off x="2743200" y="4000500"/>
            <a:ext cx="1219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3" name="Google Shape;603;p21"/>
          <p:cNvCxnSpPr/>
          <p:nvPr/>
        </p:nvCxnSpPr>
        <p:spPr>
          <a:xfrm>
            <a:off x="2687637" y="4135437"/>
            <a:ext cx="415925" cy="6445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4" name="Google Shape;604;p21"/>
          <p:cNvCxnSpPr/>
          <p:nvPr/>
        </p:nvCxnSpPr>
        <p:spPr>
          <a:xfrm flipH="1" rot="10800000">
            <a:off x="3373437" y="4135437"/>
            <a:ext cx="644525" cy="6445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10" name="Google Shape;610;p22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1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4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 </a:t>
            </a: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DAG</a:t>
            </a:r>
            <a:endParaRPr/>
          </a:p>
        </p:txBody>
      </p:sp>
      <p:sp>
        <p:nvSpPr>
          <p:cNvPr id="611" name="Google Shape;611;p22"/>
          <p:cNvSpPr txBox="1"/>
          <p:nvPr>
            <p:ph idx="1" type="body"/>
          </p:nvPr>
        </p:nvSpPr>
        <p:spPr>
          <a:xfrm>
            <a:off x="152400" y="2895600"/>
            <a:ext cx="8763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None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there is a path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there are paths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 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  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  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reachable from each other, so they are not in separate SCC’s.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22"/>
          <p:cNvSpPr txBox="1"/>
          <p:nvPr/>
        </p:nvSpPr>
        <p:spPr>
          <a:xfrm>
            <a:off x="166687" y="1066800"/>
            <a:ext cx="8824912" cy="1627187"/>
          </a:xfrm>
          <a:prstGeom prst="rect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Lemma 22.13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distinct SCC’s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let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′, and suppose there is a path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    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Then there cannot also be a path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   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613" name="Google Shape;613;p22"/>
          <p:cNvSpPr/>
          <p:nvPr/>
        </p:nvSpPr>
        <p:spPr>
          <a:xfrm>
            <a:off x="3290887" y="20574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457200" y="24384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4191000" y="36576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3768725" y="41910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4419600" y="41910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6019800" y="41910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6629400" y="4191000"/>
            <a:ext cx="381000" cy="76200"/>
          </a:xfrm>
          <a:custGeom>
            <a:rect b="b" l="l" r="r" t="t"/>
            <a:pathLst>
              <a:path extrusionOk="0" h="48" w="24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25" name="Google Shape;625;p23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Transpose of a Directed Graph</a:t>
            </a:r>
            <a:endParaRPr/>
          </a:p>
        </p:txBody>
      </p:sp>
      <p:sp>
        <p:nvSpPr>
          <p:cNvPr id="626" name="Google Shape;626;p23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transpose</a:t>
            </a:r>
            <a:r>
              <a:rPr b="1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directed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all edges reversed.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create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Θ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if using adjacency lists.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have the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SCC’s. 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reachable from each other in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reachable from each other in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.)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32" name="Google Shape;632;p24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to determine SCCs</a:t>
            </a:r>
            <a:endParaRPr/>
          </a:p>
        </p:txBody>
      </p:sp>
      <p:sp>
        <p:nvSpPr>
          <p:cNvPr id="633" name="Google Shape;633;p24"/>
          <p:cNvSpPr txBox="1"/>
          <p:nvPr>
            <p:ph idx="1" type="body"/>
          </p:nvPr>
        </p:nvSpPr>
        <p:spPr>
          <a:xfrm>
            <a:off x="152400" y="914400"/>
            <a:ext cx="8763000" cy="3048000"/>
          </a:xfrm>
          <a:prstGeom prst="rect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</a:t>
            </a: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DFS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compute finishing times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for all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DFS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in the main loop, consider vertices in order of decreasing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(as computed in first DFS)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the vertices in each tree of the depth-first forest formed in second DFS as a separate SCC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24"/>
          <p:cNvSpPr txBox="1"/>
          <p:nvPr/>
        </p:nvSpPr>
        <p:spPr>
          <a:xfrm>
            <a:off x="304800" y="4495800"/>
            <a:ext cx="32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635" name="Google Shape;635;p24"/>
          <p:cNvSpPr txBox="1"/>
          <p:nvPr/>
        </p:nvSpPr>
        <p:spPr>
          <a:xfrm>
            <a:off x="304800" y="5111750"/>
            <a:ext cx="2732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board.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6118225" y="3348037"/>
            <a:ext cx="1644650" cy="1314450"/>
          </a:xfrm>
          <a:custGeom>
            <a:rect b="b" l="l" r="r" t="t"/>
            <a:pathLst>
              <a:path extrusionOk="0" h="828" w="1036">
                <a:moveTo>
                  <a:pt x="618" y="55"/>
                </a:moveTo>
                <a:lnTo>
                  <a:pt x="300" y="0"/>
                </a:lnTo>
                <a:lnTo>
                  <a:pt x="82" y="155"/>
                </a:lnTo>
                <a:lnTo>
                  <a:pt x="0" y="482"/>
                </a:lnTo>
                <a:lnTo>
                  <a:pt x="155" y="755"/>
                </a:lnTo>
                <a:lnTo>
                  <a:pt x="491" y="828"/>
                </a:lnTo>
                <a:lnTo>
                  <a:pt x="782" y="782"/>
                </a:lnTo>
                <a:lnTo>
                  <a:pt x="936" y="618"/>
                </a:lnTo>
                <a:lnTo>
                  <a:pt x="1036" y="373"/>
                </a:lnTo>
                <a:cubicBezTo>
                  <a:pt x="1015" y="337"/>
                  <a:pt x="1000" y="296"/>
                  <a:pt x="973" y="264"/>
                </a:cubicBezTo>
                <a:cubicBezTo>
                  <a:pt x="965" y="254"/>
                  <a:pt x="946" y="263"/>
                  <a:pt x="936" y="255"/>
                </a:cubicBezTo>
                <a:cubicBezTo>
                  <a:pt x="931" y="251"/>
                  <a:pt x="913" y="204"/>
                  <a:pt x="900" y="191"/>
                </a:cubicBezTo>
                <a:lnTo>
                  <a:pt x="618" y="55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3132137" y="3319462"/>
            <a:ext cx="2654300" cy="1327150"/>
          </a:xfrm>
          <a:custGeom>
            <a:rect b="b" l="l" r="r" t="t"/>
            <a:pathLst>
              <a:path extrusionOk="0" h="836" w="1672">
                <a:moveTo>
                  <a:pt x="790" y="46"/>
                </a:moveTo>
                <a:lnTo>
                  <a:pt x="536" y="55"/>
                </a:lnTo>
                <a:lnTo>
                  <a:pt x="254" y="82"/>
                </a:lnTo>
                <a:lnTo>
                  <a:pt x="127" y="182"/>
                </a:lnTo>
                <a:lnTo>
                  <a:pt x="0" y="436"/>
                </a:lnTo>
                <a:lnTo>
                  <a:pt x="109" y="673"/>
                </a:lnTo>
                <a:lnTo>
                  <a:pt x="481" y="800"/>
                </a:lnTo>
                <a:lnTo>
                  <a:pt x="918" y="818"/>
                </a:lnTo>
                <a:lnTo>
                  <a:pt x="1299" y="836"/>
                </a:lnTo>
                <a:lnTo>
                  <a:pt x="1472" y="773"/>
                </a:lnTo>
                <a:lnTo>
                  <a:pt x="1645" y="573"/>
                </a:lnTo>
                <a:lnTo>
                  <a:pt x="1672" y="391"/>
                </a:lnTo>
                <a:lnTo>
                  <a:pt x="1654" y="227"/>
                </a:lnTo>
                <a:lnTo>
                  <a:pt x="1581" y="136"/>
                </a:lnTo>
                <a:lnTo>
                  <a:pt x="1372" y="0"/>
                </a:lnTo>
                <a:lnTo>
                  <a:pt x="1099" y="0"/>
                </a:lnTo>
                <a:lnTo>
                  <a:pt x="790" y="46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4703762" y="1731962"/>
            <a:ext cx="2613025" cy="1327150"/>
          </a:xfrm>
          <a:custGeom>
            <a:rect b="b" l="l" r="r" t="t"/>
            <a:pathLst>
              <a:path extrusionOk="0" h="836" w="1646">
                <a:moveTo>
                  <a:pt x="1046" y="0"/>
                </a:moveTo>
                <a:lnTo>
                  <a:pt x="828" y="9"/>
                </a:lnTo>
                <a:lnTo>
                  <a:pt x="555" y="9"/>
                </a:lnTo>
                <a:lnTo>
                  <a:pt x="255" y="55"/>
                </a:lnTo>
                <a:lnTo>
                  <a:pt x="64" y="191"/>
                </a:lnTo>
                <a:lnTo>
                  <a:pt x="0" y="491"/>
                </a:lnTo>
                <a:lnTo>
                  <a:pt x="46" y="709"/>
                </a:lnTo>
                <a:lnTo>
                  <a:pt x="173" y="718"/>
                </a:lnTo>
                <a:lnTo>
                  <a:pt x="428" y="809"/>
                </a:lnTo>
                <a:lnTo>
                  <a:pt x="809" y="782"/>
                </a:lnTo>
                <a:lnTo>
                  <a:pt x="1173" y="836"/>
                </a:lnTo>
                <a:lnTo>
                  <a:pt x="1455" y="782"/>
                </a:lnTo>
                <a:lnTo>
                  <a:pt x="1591" y="618"/>
                </a:lnTo>
                <a:lnTo>
                  <a:pt x="1646" y="445"/>
                </a:lnTo>
                <a:lnTo>
                  <a:pt x="1627" y="282"/>
                </a:lnTo>
                <a:lnTo>
                  <a:pt x="1518" y="109"/>
                </a:lnTo>
                <a:lnTo>
                  <a:pt x="1400" y="36"/>
                </a:lnTo>
                <a:lnTo>
                  <a:pt x="1046" y="0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4" name="Google Shape;644;p25"/>
          <p:cNvSpPr/>
          <p:nvPr/>
        </p:nvSpPr>
        <p:spPr>
          <a:xfrm>
            <a:off x="1428750" y="1587500"/>
            <a:ext cx="3001962" cy="2987675"/>
          </a:xfrm>
          <a:custGeom>
            <a:rect b="b" l="l" r="r" t="t"/>
            <a:pathLst>
              <a:path extrusionOk="0" h="1882" w="1891">
                <a:moveTo>
                  <a:pt x="309" y="173"/>
                </a:moveTo>
                <a:lnTo>
                  <a:pt x="164" y="264"/>
                </a:lnTo>
                <a:lnTo>
                  <a:pt x="100" y="446"/>
                </a:lnTo>
                <a:lnTo>
                  <a:pt x="18" y="673"/>
                </a:lnTo>
                <a:lnTo>
                  <a:pt x="0" y="964"/>
                </a:lnTo>
                <a:lnTo>
                  <a:pt x="18" y="1173"/>
                </a:lnTo>
                <a:lnTo>
                  <a:pt x="64" y="1300"/>
                </a:lnTo>
                <a:lnTo>
                  <a:pt x="36" y="1573"/>
                </a:lnTo>
                <a:lnTo>
                  <a:pt x="82" y="1700"/>
                </a:lnTo>
                <a:lnTo>
                  <a:pt x="182" y="1782"/>
                </a:lnTo>
                <a:lnTo>
                  <a:pt x="500" y="1882"/>
                </a:lnTo>
                <a:lnTo>
                  <a:pt x="709" y="1827"/>
                </a:lnTo>
                <a:lnTo>
                  <a:pt x="809" y="1718"/>
                </a:lnTo>
                <a:lnTo>
                  <a:pt x="891" y="1527"/>
                </a:lnTo>
                <a:lnTo>
                  <a:pt x="982" y="1318"/>
                </a:lnTo>
                <a:lnTo>
                  <a:pt x="1100" y="1209"/>
                </a:lnTo>
                <a:lnTo>
                  <a:pt x="1300" y="1055"/>
                </a:lnTo>
                <a:lnTo>
                  <a:pt x="1554" y="955"/>
                </a:lnTo>
                <a:lnTo>
                  <a:pt x="1809" y="736"/>
                </a:lnTo>
                <a:lnTo>
                  <a:pt x="1891" y="446"/>
                </a:lnTo>
                <a:lnTo>
                  <a:pt x="1836" y="273"/>
                </a:lnTo>
                <a:lnTo>
                  <a:pt x="1654" y="91"/>
                </a:lnTo>
                <a:lnTo>
                  <a:pt x="1472" y="0"/>
                </a:lnTo>
                <a:lnTo>
                  <a:pt x="1272" y="0"/>
                </a:lnTo>
                <a:lnTo>
                  <a:pt x="1073" y="27"/>
                </a:lnTo>
                <a:lnTo>
                  <a:pt x="845" y="73"/>
                </a:lnTo>
                <a:lnTo>
                  <a:pt x="563" y="109"/>
                </a:lnTo>
                <a:lnTo>
                  <a:pt x="482" y="146"/>
                </a:lnTo>
                <a:lnTo>
                  <a:pt x="309" y="173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25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1928812" y="214630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25"/>
          <p:cNvSpPr txBox="1"/>
          <p:nvPr/>
        </p:nvSpPr>
        <p:spPr>
          <a:xfrm>
            <a:off x="1852612" y="22447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13/14</a:t>
            </a:r>
            <a:endParaRPr/>
          </a:p>
        </p:txBody>
      </p:sp>
      <p:sp>
        <p:nvSpPr>
          <p:cNvPr id="648" name="Google Shape;648;p25"/>
          <p:cNvSpPr/>
          <p:nvPr/>
        </p:nvSpPr>
        <p:spPr>
          <a:xfrm>
            <a:off x="1928812" y="356235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1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12/15</a:t>
            </a:r>
            <a:endParaRPr sz="700"/>
          </a:p>
        </p:txBody>
      </p:sp>
      <p:sp>
        <p:nvSpPr>
          <p:cNvPr id="649" name="Google Shape;649;p25"/>
          <p:cNvSpPr/>
          <p:nvPr/>
        </p:nvSpPr>
        <p:spPr>
          <a:xfrm>
            <a:off x="3409950" y="355600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3/4</a:t>
            </a:r>
            <a:endParaRPr sz="800"/>
          </a:p>
        </p:txBody>
      </p:sp>
      <p:cxnSp>
        <p:nvCxnSpPr>
          <p:cNvPr id="650" name="Google Shape;650;p25"/>
          <p:cNvCxnSpPr/>
          <p:nvPr/>
        </p:nvCxnSpPr>
        <p:spPr>
          <a:xfrm>
            <a:off x="2505075" y="3851275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51" name="Google Shape;651;p25"/>
          <p:cNvSpPr/>
          <p:nvPr/>
        </p:nvSpPr>
        <p:spPr>
          <a:xfrm>
            <a:off x="4891087" y="3565525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800"/>
          </a:p>
        </p:txBody>
      </p:sp>
      <p:sp>
        <p:nvSpPr>
          <p:cNvPr id="652" name="Google Shape;652;p25"/>
          <p:cNvSpPr/>
          <p:nvPr/>
        </p:nvSpPr>
        <p:spPr>
          <a:xfrm>
            <a:off x="3405187" y="2151062"/>
            <a:ext cx="590700" cy="576300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11/16</a:t>
            </a:r>
            <a:endParaRPr sz="900"/>
          </a:p>
        </p:txBody>
      </p:sp>
      <p:sp>
        <p:nvSpPr>
          <p:cNvPr id="653" name="Google Shape;653;p25"/>
          <p:cNvSpPr/>
          <p:nvPr/>
        </p:nvSpPr>
        <p:spPr>
          <a:xfrm>
            <a:off x="4886325" y="2160587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1/10</a:t>
            </a:r>
            <a:endParaRPr sz="600"/>
          </a:p>
        </p:txBody>
      </p:sp>
      <p:cxnSp>
        <p:nvCxnSpPr>
          <p:cNvPr id="654" name="Google Shape;654;p25"/>
          <p:cNvCxnSpPr/>
          <p:nvPr/>
        </p:nvCxnSpPr>
        <p:spPr>
          <a:xfrm>
            <a:off x="2216150" y="2724150"/>
            <a:ext cx="0" cy="842962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655" name="Google Shape;655;p25"/>
          <p:cNvCxnSpPr/>
          <p:nvPr/>
        </p:nvCxnSpPr>
        <p:spPr>
          <a:xfrm>
            <a:off x="3697287" y="2733675"/>
            <a:ext cx="0" cy="842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56" name="Google Shape;656;p25"/>
          <p:cNvCxnSpPr/>
          <p:nvPr/>
        </p:nvCxnSpPr>
        <p:spPr>
          <a:xfrm>
            <a:off x="5178425" y="2743200"/>
            <a:ext cx="0" cy="842962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57" name="Google Shape;657;p25"/>
          <p:cNvCxnSpPr/>
          <p:nvPr/>
        </p:nvCxnSpPr>
        <p:spPr>
          <a:xfrm flipH="1" rot="10800000">
            <a:off x="2424112" y="2600325"/>
            <a:ext cx="1023937" cy="10287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58" name="Google Shape;658;p25"/>
          <p:cNvSpPr txBox="1"/>
          <p:nvPr/>
        </p:nvSpPr>
        <p:spPr>
          <a:xfrm>
            <a:off x="2095500" y="174942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659" name="Google Shape;659;p25"/>
          <p:cNvSpPr txBox="1"/>
          <p:nvPr/>
        </p:nvSpPr>
        <p:spPr>
          <a:xfrm>
            <a:off x="3562350" y="17589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660" name="Google Shape;660;p25"/>
          <p:cNvSpPr txBox="1"/>
          <p:nvPr/>
        </p:nvSpPr>
        <p:spPr>
          <a:xfrm>
            <a:off x="5029200" y="17684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661" name="Google Shape;661;p25"/>
          <p:cNvSpPr txBox="1"/>
          <p:nvPr/>
        </p:nvSpPr>
        <p:spPr>
          <a:xfrm>
            <a:off x="2062162" y="4044950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662" name="Google Shape;662;p25"/>
          <p:cNvSpPr txBox="1"/>
          <p:nvPr/>
        </p:nvSpPr>
        <p:spPr>
          <a:xfrm>
            <a:off x="3557587" y="4054475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663" name="Google Shape;663;p25"/>
          <p:cNvSpPr txBox="1"/>
          <p:nvPr/>
        </p:nvSpPr>
        <p:spPr>
          <a:xfrm>
            <a:off x="5038725" y="40497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</p:txBody>
      </p:sp>
      <p:cxnSp>
        <p:nvCxnSpPr>
          <p:cNvPr id="664" name="Google Shape;664;p25"/>
          <p:cNvCxnSpPr/>
          <p:nvPr/>
        </p:nvCxnSpPr>
        <p:spPr>
          <a:xfrm>
            <a:off x="2514600" y="2460625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65" name="Google Shape;665;p25"/>
          <p:cNvSpPr/>
          <p:nvPr/>
        </p:nvSpPr>
        <p:spPr>
          <a:xfrm>
            <a:off x="6386512" y="3589337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5/6</a:t>
            </a:r>
            <a:endParaRPr sz="1000"/>
          </a:p>
        </p:txBody>
      </p:sp>
      <p:sp>
        <p:nvSpPr>
          <p:cNvPr id="666" name="Google Shape;666;p25"/>
          <p:cNvSpPr/>
          <p:nvPr/>
        </p:nvSpPr>
        <p:spPr>
          <a:xfrm>
            <a:off x="6381750" y="218440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8/9</a:t>
            </a:r>
            <a:endParaRPr sz="900"/>
          </a:p>
        </p:txBody>
      </p:sp>
      <p:sp>
        <p:nvSpPr>
          <p:cNvPr id="667" name="Google Shape;667;p25"/>
          <p:cNvSpPr txBox="1"/>
          <p:nvPr/>
        </p:nvSpPr>
        <p:spPr>
          <a:xfrm>
            <a:off x="6534150" y="407352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668" name="Google Shape;668;p25"/>
          <p:cNvSpPr txBox="1"/>
          <p:nvPr/>
        </p:nvSpPr>
        <p:spPr>
          <a:xfrm>
            <a:off x="6467475" y="17637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669" name="Google Shape;669;p25"/>
          <p:cNvCxnSpPr/>
          <p:nvPr/>
        </p:nvCxnSpPr>
        <p:spPr>
          <a:xfrm>
            <a:off x="3981450" y="2455862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0" name="Google Shape;670;p25"/>
          <p:cNvCxnSpPr/>
          <p:nvPr/>
        </p:nvCxnSpPr>
        <p:spPr>
          <a:xfrm>
            <a:off x="3971925" y="3932237"/>
            <a:ext cx="9239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671" name="Google Shape;671;p25"/>
          <p:cNvCxnSpPr/>
          <p:nvPr/>
        </p:nvCxnSpPr>
        <p:spPr>
          <a:xfrm>
            <a:off x="5438775" y="3841750"/>
            <a:ext cx="9239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2" name="Google Shape;672;p25"/>
          <p:cNvCxnSpPr/>
          <p:nvPr/>
        </p:nvCxnSpPr>
        <p:spPr>
          <a:xfrm>
            <a:off x="6683375" y="2762250"/>
            <a:ext cx="0" cy="842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3" name="Google Shape;673;p25"/>
          <p:cNvCxnSpPr/>
          <p:nvPr/>
        </p:nvCxnSpPr>
        <p:spPr>
          <a:xfrm>
            <a:off x="3967162" y="3770312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4" name="Google Shape;674;p25"/>
          <p:cNvCxnSpPr/>
          <p:nvPr/>
        </p:nvCxnSpPr>
        <p:spPr>
          <a:xfrm>
            <a:off x="5495925" y="2360612"/>
            <a:ext cx="9239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5" name="Google Shape;675;p25"/>
          <p:cNvCxnSpPr/>
          <p:nvPr/>
        </p:nvCxnSpPr>
        <p:spPr>
          <a:xfrm>
            <a:off x="5448300" y="2530475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76" name="Google Shape;676;p25"/>
          <p:cNvSpPr/>
          <p:nvPr/>
        </p:nvSpPr>
        <p:spPr>
          <a:xfrm>
            <a:off x="6911975" y="3676650"/>
            <a:ext cx="644525" cy="576262"/>
          </a:xfrm>
          <a:custGeom>
            <a:rect b="b" l="l" r="r" t="t"/>
            <a:pathLst>
              <a:path extrusionOk="0" h="363" w="406">
                <a:moveTo>
                  <a:pt x="0" y="257"/>
                </a:moveTo>
                <a:cubicBezTo>
                  <a:pt x="45" y="310"/>
                  <a:pt x="90" y="363"/>
                  <a:pt x="155" y="357"/>
                </a:cubicBezTo>
                <a:cubicBezTo>
                  <a:pt x="220" y="351"/>
                  <a:pt x="376" y="275"/>
                  <a:pt x="391" y="221"/>
                </a:cubicBezTo>
                <a:cubicBezTo>
                  <a:pt x="406" y="167"/>
                  <a:pt x="307" y="60"/>
                  <a:pt x="246" y="30"/>
                </a:cubicBezTo>
                <a:cubicBezTo>
                  <a:pt x="185" y="0"/>
                  <a:pt x="106" y="19"/>
                  <a:pt x="27" y="3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25"/>
          <p:cNvSpPr txBox="1"/>
          <p:nvPr/>
        </p:nvSpPr>
        <p:spPr>
          <a:xfrm>
            <a:off x="2667000" y="838200"/>
            <a:ext cx="4273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(Courtesy of Prof. Jim Anderson)</a:t>
            </a:r>
            <a:endParaRPr/>
          </a:p>
        </p:txBody>
      </p:sp>
      <p:sp>
        <p:nvSpPr>
          <p:cNvPr id="678" name="Google Shape;678;p25"/>
          <p:cNvSpPr txBox="1"/>
          <p:nvPr/>
        </p:nvSpPr>
        <p:spPr>
          <a:xfrm>
            <a:off x="990600" y="1295400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84" name="Google Shape;684;p26"/>
          <p:cNvSpPr/>
          <p:nvPr/>
        </p:nvSpPr>
        <p:spPr>
          <a:xfrm>
            <a:off x="6118225" y="3348037"/>
            <a:ext cx="1644650" cy="1314450"/>
          </a:xfrm>
          <a:custGeom>
            <a:rect b="b" l="l" r="r" t="t"/>
            <a:pathLst>
              <a:path extrusionOk="0" h="828" w="1036">
                <a:moveTo>
                  <a:pt x="618" y="55"/>
                </a:moveTo>
                <a:lnTo>
                  <a:pt x="300" y="0"/>
                </a:lnTo>
                <a:lnTo>
                  <a:pt x="82" y="155"/>
                </a:lnTo>
                <a:lnTo>
                  <a:pt x="0" y="482"/>
                </a:lnTo>
                <a:lnTo>
                  <a:pt x="155" y="755"/>
                </a:lnTo>
                <a:lnTo>
                  <a:pt x="491" y="828"/>
                </a:lnTo>
                <a:lnTo>
                  <a:pt x="782" y="782"/>
                </a:lnTo>
                <a:lnTo>
                  <a:pt x="936" y="618"/>
                </a:lnTo>
                <a:lnTo>
                  <a:pt x="1036" y="373"/>
                </a:lnTo>
                <a:cubicBezTo>
                  <a:pt x="1015" y="337"/>
                  <a:pt x="1000" y="296"/>
                  <a:pt x="973" y="264"/>
                </a:cubicBezTo>
                <a:cubicBezTo>
                  <a:pt x="965" y="254"/>
                  <a:pt x="946" y="263"/>
                  <a:pt x="936" y="255"/>
                </a:cubicBezTo>
                <a:cubicBezTo>
                  <a:pt x="931" y="251"/>
                  <a:pt x="913" y="204"/>
                  <a:pt x="900" y="191"/>
                </a:cubicBezTo>
                <a:lnTo>
                  <a:pt x="618" y="55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3132137" y="3319462"/>
            <a:ext cx="2654300" cy="1327150"/>
          </a:xfrm>
          <a:custGeom>
            <a:rect b="b" l="l" r="r" t="t"/>
            <a:pathLst>
              <a:path extrusionOk="0" h="836" w="1672">
                <a:moveTo>
                  <a:pt x="790" y="46"/>
                </a:moveTo>
                <a:lnTo>
                  <a:pt x="536" y="55"/>
                </a:lnTo>
                <a:lnTo>
                  <a:pt x="254" y="82"/>
                </a:lnTo>
                <a:lnTo>
                  <a:pt x="127" y="182"/>
                </a:lnTo>
                <a:lnTo>
                  <a:pt x="0" y="436"/>
                </a:lnTo>
                <a:lnTo>
                  <a:pt x="109" y="673"/>
                </a:lnTo>
                <a:lnTo>
                  <a:pt x="481" y="800"/>
                </a:lnTo>
                <a:lnTo>
                  <a:pt x="918" y="818"/>
                </a:lnTo>
                <a:lnTo>
                  <a:pt x="1299" y="836"/>
                </a:lnTo>
                <a:lnTo>
                  <a:pt x="1472" y="773"/>
                </a:lnTo>
                <a:lnTo>
                  <a:pt x="1645" y="573"/>
                </a:lnTo>
                <a:lnTo>
                  <a:pt x="1672" y="391"/>
                </a:lnTo>
                <a:lnTo>
                  <a:pt x="1654" y="227"/>
                </a:lnTo>
                <a:lnTo>
                  <a:pt x="1581" y="136"/>
                </a:lnTo>
                <a:lnTo>
                  <a:pt x="1372" y="0"/>
                </a:lnTo>
                <a:lnTo>
                  <a:pt x="1099" y="0"/>
                </a:lnTo>
                <a:lnTo>
                  <a:pt x="790" y="46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4703762" y="1731962"/>
            <a:ext cx="2613025" cy="1327150"/>
          </a:xfrm>
          <a:custGeom>
            <a:rect b="b" l="l" r="r" t="t"/>
            <a:pathLst>
              <a:path extrusionOk="0" h="836" w="1646">
                <a:moveTo>
                  <a:pt x="1046" y="0"/>
                </a:moveTo>
                <a:lnTo>
                  <a:pt x="828" y="9"/>
                </a:lnTo>
                <a:lnTo>
                  <a:pt x="555" y="9"/>
                </a:lnTo>
                <a:lnTo>
                  <a:pt x="255" y="55"/>
                </a:lnTo>
                <a:lnTo>
                  <a:pt x="64" y="191"/>
                </a:lnTo>
                <a:lnTo>
                  <a:pt x="0" y="491"/>
                </a:lnTo>
                <a:lnTo>
                  <a:pt x="46" y="709"/>
                </a:lnTo>
                <a:lnTo>
                  <a:pt x="173" y="718"/>
                </a:lnTo>
                <a:lnTo>
                  <a:pt x="428" y="809"/>
                </a:lnTo>
                <a:lnTo>
                  <a:pt x="809" y="782"/>
                </a:lnTo>
                <a:lnTo>
                  <a:pt x="1173" y="836"/>
                </a:lnTo>
                <a:lnTo>
                  <a:pt x="1455" y="782"/>
                </a:lnTo>
                <a:lnTo>
                  <a:pt x="1591" y="618"/>
                </a:lnTo>
                <a:lnTo>
                  <a:pt x="1646" y="445"/>
                </a:lnTo>
                <a:lnTo>
                  <a:pt x="1627" y="282"/>
                </a:lnTo>
                <a:lnTo>
                  <a:pt x="1518" y="109"/>
                </a:lnTo>
                <a:lnTo>
                  <a:pt x="1400" y="36"/>
                </a:lnTo>
                <a:lnTo>
                  <a:pt x="1046" y="0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1428750" y="1587500"/>
            <a:ext cx="3001962" cy="2987675"/>
          </a:xfrm>
          <a:custGeom>
            <a:rect b="b" l="l" r="r" t="t"/>
            <a:pathLst>
              <a:path extrusionOk="0" h="1882" w="1891">
                <a:moveTo>
                  <a:pt x="309" y="173"/>
                </a:moveTo>
                <a:lnTo>
                  <a:pt x="164" y="264"/>
                </a:lnTo>
                <a:lnTo>
                  <a:pt x="100" y="446"/>
                </a:lnTo>
                <a:lnTo>
                  <a:pt x="18" y="673"/>
                </a:lnTo>
                <a:lnTo>
                  <a:pt x="0" y="964"/>
                </a:lnTo>
                <a:lnTo>
                  <a:pt x="18" y="1173"/>
                </a:lnTo>
                <a:lnTo>
                  <a:pt x="64" y="1300"/>
                </a:lnTo>
                <a:lnTo>
                  <a:pt x="36" y="1573"/>
                </a:lnTo>
                <a:lnTo>
                  <a:pt x="82" y="1700"/>
                </a:lnTo>
                <a:lnTo>
                  <a:pt x="182" y="1782"/>
                </a:lnTo>
                <a:lnTo>
                  <a:pt x="500" y="1882"/>
                </a:lnTo>
                <a:lnTo>
                  <a:pt x="709" y="1827"/>
                </a:lnTo>
                <a:lnTo>
                  <a:pt x="809" y="1718"/>
                </a:lnTo>
                <a:lnTo>
                  <a:pt x="891" y="1527"/>
                </a:lnTo>
                <a:lnTo>
                  <a:pt x="982" y="1318"/>
                </a:lnTo>
                <a:lnTo>
                  <a:pt x="1100" y="1209"/>
                </a:lnTo>
                <a:lnTo>
                  <a:pt x="1300" y="1055"/>
                </a:lnTo>
                <a:lnTo>
                  <a:pt x="1554" y="955"/>
                </a:lnTo>
                <a:lnTo>
                  <a:pt x="1809" y="736"/>
                </a:lnTo>
                <a:lnTo>
                  <a:pt x="1891" y="446"/>
                </a:lnTo>
                <a:lnTo>
                  <a:pt x="1836" y="273"/>
                </a:lnTo>
                <a:lnTo>
                  <a:pt x="1654" y="91"/>
                </a:lnTo>
                <a:lnTo>
                  <a:pt x="1472" y="0"/>
                </a:lnTo>
                <a:lnTo>
                  <a:pt x="1272" y="0"/>
                </a:lnTo>
                <a:lnTo>
                  <a:pt x="1073" y="27"/>
                </a:lnTo>
                <a:lnTo>
                  <a:pt x="845" y="73"/>
                </a:lnTo>
                <a:lnTo>
                  <a:pt x="563" y="109"/>
                </a:lnTo>
                <a:lnTo>
                  <a:pt x="482" y="146"/>
                </a:lnTo>
                <a:lnTo>
                  <a:pt x="309" y="173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26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689" name="Google Shape;689;p26"/>
          <p:cNvSpPr/>
          <p:nvPr/>
        </p:nvSpPr>
        <p:spPr>
          <a:xfrm>
            <a:off x="1928812" y="214630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1928812" y="356235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26"/>
          <p:cNvSpPr txBox="1"/>
          <p:nvPr/>
        </p:nvSpPr>
        <p:spPr>
          <a:xfrm>
            <a:off x="2024062" y="359727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3409950" y="355600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3" name="Google Shape;693;p26"/>
          <p:cNvCxnSpPr/>
          <p:nvPr/>
        </p:nvCxnSpPr>
        <p:spPr>
          <a:xfrm>
            <a:off x="2505075" y="3851275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694" name="Google Shape;694;p26"/>
          <p:cNvSpPr/>
          <p:nvPr/>
        </p:nvSpPr>
        <p:spPr>
          <a:xfrm>
            <a:off x="4891087" y="3565525"/>
            <a:ext cx="590550" cy="576262"/>
          </a:xfrm>
          <a:prstGeom prst="ellipse">
            <a:avLst/>
          </a:prstGeom>
          <a:solidFill>
            <a:srgbClr val="3399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26"/>
          <p:cNvSpPr/>
          <p:nvPr/>
        </p:nvSpPr>
        <p:spPr>
          <a:xfrm>
            <a:off x="3405187" y="2151062"/>
            <a:ext cx="590550" cy="576262"/>
          </a:xfrm>
          <a:prstGeom prst="ellipse">
            <a:avLst/>
          </a:prstGeom>
          <a:solidFill>
            <a:srgbClr val="3399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4886325" y="2160587"/>
            <a:ext cx="590550" cy="576262"/>
          </a:xfrm>
          <a:prstGeom prst="ellipse">
            <a:avLst/>
          </a:prstGeom>
          <a:solidFill>
            <a:srgbClr val="3399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7" name="Google Shape;697;p26"/>
          <p:cNvCxnSpPr/>
          <p:nvPr/>
        </p:nvCxnSpPr>
        <p:spPr>
          <a:xfrm>
            <a:off x="2216150" y="2724150"/>
            <a:ext cx="0" cy="842962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98" name="Google Shape;698;p26"/>
          <p:cNvCxnSpPr/>
          <p:nvPr/>
        </p:nvCxnSpPr>
        <p:spPr>
          <a:xfrm>
            <a:off x="3697287" y="2733675"/>
            <a:ext cx="0" cy="842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699" name="Google Shape;699;p26"/>
          <p:cNvCxnSpPr/>
          <p:nvPr/>
        </p:nvCxnSpPr>
        <p:spPr>
          <a:xfrm>
            <a:off x="5178425" y="2743200"/>
            <a:ext cx="0" cy="842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700" name="Google Shape;700;p26"/>
          <p:cNvCxnSpPr/>
          <p:nvPr/>
        </p:nvCxnSpPr>
        <p:spPr>
          <a:xfrm flipH="1" rot="10800000">
            <a:off x="2424112" y="2600325"/>
            <a:ext cx="1023937" cy="10287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01" name="Google Shape;701;p26"/>
          <p:cNvSpPr txBox="1"/>
          <p:nvPr/>
        </p:nvSpPr>
        <p:spPr>
          <a:xfrm>
            <a:off x="2095500" y="174942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702" name="Google Shape;702;p26"/>
          <p:cNvSpPr txBox="1"/>
          <p:nvPr/>
        </p:nvSpPr>
        <p:spPr>
          <a:xfrm>
            <a:off x="3562350" y="17589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703" name="Google Shape;703;p26"/>
          <p:cNvSpPr txBox="1"/>
          <p:nvPr/>
        </p:nvSpPr>
        <p:spPr>
          <a:xfrm>
            <a:off x="5029200" y="17684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704" name="Google Shape;704;p26"/>
          <p:cNvSpPr txBox="1"/>
          <p:nvPr/>
        </p:nvSpPr>
        <p:spPr>
          <a:xfrm>
            <a:off x="2062162" y="4044950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705" name="Google Shape;705;p26"/>
          <p:cNvSpPr txBox="1"/>
          <p:nvPr/>
        </p:nvSpPr>
        <p:spPr>
          <a:xfrm>
            <a:off x="3557587" y="4054475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706" name="Google Shape;706;p26"/>
          <p:cNvSpPr txBox="1"/>
          <p:nvPr/>
        </p:nvSpPr>
        <p:spPr>
          <a:xfrm>
            <a:off x="5038725" y="40497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/>
          </a:p>
        </p:txBody>
      </p:sp>
      <p:cxnSp>
        <p:nvCxnSpPr>
          <p:cNvPr id="707" name="Google Shape;707;p26"/>
          <p:cNvCxnSpPr/>
          <p:nvPr/>
        </p:nvCxnSpPr>
        <p:spPr>
          <a:xfrm>
            <a:off x="2514600" y="2460625"/>
            <a:ext cx="9239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708" name="Google Shape;708;p26"/>
          <p:cNvSpPr/>
          <p:nvPr/>
        </p:nvSpPr>
        <p:spPr>
          <a:xfrm>
            <a:off x="6386512" y="3589337"/>
            <a:ext cx="590550" cy="576262"/>
          </a:xfrm>
          <a:prstGeom prst="ellipse">
            <a:avLst/>
          </a:prstGeom>
          <a:solidFill>
            <a:srgbClr val="3399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6381750" y="2184400"/>
            <a:ext cx="590550" cy="576262"/>
          </a:xfrm>
          <a:prstGeom prst="ellipse">
            <a:avLst/>
          </a:prstGeom>
          <a:solidFill>
            <a:srgbClr val="CCECFF"/>
          </a:solidFill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26"/>
          <p:cNvSpPr txBox="1"/>
          <p:nvPr/>
        </p:nvSpPr>
        <p:spPr>
          <a:xfrm>
            <a:off x="6534150" y="407352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711" name="Google Shape;711;p26"/>
          <p:cNvSpPr txBox="1"/>
          <p:nvPr/>
        </p:nvSpPr>
        <p:spPr>
          <a:xfrm>
            <a:off x="6467475" y="17637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712" name="Google Shape;712;p26"/>
          <p:cNvCxnSpPr/>
          <p:nvPr/>
        </p:nvCxnSpPr>
        <p:spPr>
          <a:xfrm>
            <a:off x="3981450" y="2455862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713" name="Google Shape;713;p26"/>
          <p:cNvCxnSpPr/>
          <p:nvPr/>
        </p:nvCxnSpPr>
        <p:spPr>
          <a:xfrm>
            <a:off x="3971925" y="3932237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14" name="Google Shape;714;p26"/>
          <p:cNvCxnSpPr/>
          <p:nvPr/>
        </p:nvCxnSpPr>
        <p:spPr>
          <a:xfrm>
            <a:off x="5438775" y="3841750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715" name="Google Shape;715;p26"/>
          <p:cNvCxnSpPr/>
          <p:nvPr/>
        </p:nvCxnSpPr>
        <p:spPr>
          <a:xfrm>
            <a:off x="6683375" y="2762250"/>
            <a:ext cx="0" cy="842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716" name="Google Shape;716;p26"/>
          <p:cNvCxnSpPr/>
          <p:nvPr/>
        </p:nvCxnSpPr>
        <p:spPr>
          <a:xfrm>
            <a:off x="3967162" y="3770312"/>
            <a:ext cx="9239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717" name="Google Shape;717;p26"/>
          <p:cNvCxnSpPr/>
          <p:nvPr/>
        </p:nvCxnSpPr>
        <p:spPr>
          <a:xfrm>
            <a:off x="5495925" y="2360612"/>
            <a:ext cx="923925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718" name="Google Shape;718;p26"/>
          <p:cNvCxnSpPr/>
          <p:nvPr/>
        </p:nvCxnSpPr>
        <p:spPr>
          <a:xfrm>
            <a:off x="5448300" y="2530475"/>
            <a:ext cx="9239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9" name="Google Shape;719;p26"/>
          <p:cNvSpPr/>
          <p:nvPr/>
        </p:nvSpPr>
        <p:spPr>
          <a:xfrm>
            <a:off x="6911975" y="3676650"/>
            <a:ext cx="644525" cy="576262"/>
          </a:xfrm>
          <a:custGeom>
            <a:rect b="b" l="l" r="r" t="t"/>
            <a:pathLst>
              <a:path extrusionOk="0" h="363" w="406">
                <a:moveTo>
                  <a:pt x="0" y="257"/>
                </a:moveTo>
                <a:cubicBezTo>
                  <a:pt x="45" y="310"/>
                  <a:pt x="90" y="363"/>
                  <a:pt x="155" y="357"/>
                </a:cubicBezTo>
                <a:cubicBezTo>
                  <a:pt x="220" y="351"/>
                  <a:pt x="376" y="275"/>
                  <a:pt x="391" y="221"/>
                </a:cubicBezTo>
                <a:cubicBezTo>
                  <a:pt x="406" y="167"/>
                  <a:pt x="307" y="60"/>
                  <a:pt x="246" y="30"/>
                </a:cubicBezTo>
                <a:cubicBezTo>
                  <a:pt x="185" y="0"/>
                  <a:pt x="106" y="19"/>
                  <a:pt x="27" y="3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26"/>
          <p:cNvSpPr txBox="1"/>
          <p:nvPr/>
        </p:nvSpPr>
        <p:spPr>
          <a:xfrm>
            <a:off x="990600" y="1295400"/>
            <a:ext cx="5286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1" baseline="30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726" name="Google Shape;726;p27"/>
          <p:cNvSpPr/>
          <p:nvPr/>
        </p:nvSpPr>
        <p:spPr>
          <a:xfrm>
            <a:off x="6118225" y="3348037"/>
            <a:ext cx="1644650" cy="1314450"/>
          </a:xfrm>
          <a:custGeom>
            <a:rect b="b" l="l" r="r" t="t"/>
            <a:pathLst>
              <a:path extrusionOk="0" h="828" w="1036">
                <a:moveTo>
                  <a:pt x="618" y="55"/>
                </a:moveTo>
                <a:lnTo>
                  <a:pt x="300" y="0"/>
                </a:lnTo>
                <a:lnTo>
                  <a:pt x="82" y="155"/>
                </a:lnTo>
                <a:lnTo>
                  <a:pt x="0" y="482"/>
                </a:lnTo>
                <a:lnTo>
                  <a:pt x="155" y="755"/>
                </a:lnTo>
                <a:lnTo>
                  <a:pt x="491" y="828"/>
                </a:lnTo>
                <a:lnTo>
                  <a:pt x="782" y="782"/>
                </a:lnTo>
                <a:lnTo>
                  <a:pt x="936" y="618"/>
                </a:lnTo>
                <a:lnTo>
                  <a:pt x="1036" y="373"/>
                </a:lnTo>
                <a:cubicBezTo>
                  <a:pt x="1015" y="337"/>
                  <a:pt x="1000" y="296"/>
                  <a:pt x="973" y="264"/>
                </a:cubicBezTo>
                <a:cubicBezTo>
                  <a:pt x="965" y="254"/>
                  <a:pt x="946" y="263"/>
                  <a:pt x="936" y="255"/>
                </a:cubicBezTo>
                <a:cubicBezTo>
                  <a:pt x="931" y="251"/>
                  <a:pt x="913" y="204"/>
                  <a:pt x="900" y="191"/>
                </a:cubicBezTo>
                <a:lnTo>
                  <a:pt x="618" y="55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3132137" y="3319462"/>
            <a:ext cx="2654300" cy="1327150"/>
          </a:xfrm>
          <a:custGeom>
            <a:rect b="b" l="l" r="r" t="t"/>
            <a:pathLst>
              <a:path extrusionOk="0" h="836" w="1672">
                <a:moveTo>
                  <a:pt x="790" y="46"/>
                </a:moveTo>
                <a:lnTo>
                  <a:pt x="536" y="55"/>
                </a:lnTo>
                <a:lnTo>
                  <a:pt x="254" y="82"/>
                </a:lnTo>
                <a:lnTo>
                  <a:pt x="127" y="182"/>
                </a:lnTo>
                <a:lnTo>
                  <a:pt x="0" y="436"/>
                </a:lnTo>
                <a:lnTo>
                  <a:pt x="109" y="673"/>
                </a:lnTo>
                <a:lnTo>
                  <a:pt x="481" y="800"/>
                </a:lnTo>
                <a:lnTo>
                  <a:pt x="918" y="818"/>
                </a:lnTo>
                <a:lnTo>
                  <a:pt x="1299" y="836"/>
                </a:lnTo>
                <a:lnTo>
                  <a:pt x="1472" y="773"/>
                </a:lnTo>
                <a:lnTo>
                  <a:pt x="1645" y="573"/>
                </a:lnTo>
                <a:lnTo>
                  <a:pt x="1672" y="391"/>
                </a:lnTo>
                <a:lnTo>
                  <a:pt x="1654" y="227"/>
                </a:lnTo>
                <a:lnTo>
                  <a:pt x="1581" y="136"/>
                </a:lnTo>
                <a:lnTo>
                  <a:pt x="1372" y="0"/>
                </a:lnTo>
                <a:lnTo>
                  <a:pt x="1099" y="0"/>
                </a:lnTo>
                <a:lnTo>
                  <a:pt x="790" y="46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4703762" y="1731962"/>
            <a:ext cx="2613025" cy="1327150"/>
          </a:xfrm>
          <a:custGeom>
            <a:rect b="b" l="l" r="r" t="t"/>
            <a:pathLst>
              <a:path extrusionOk="0" h="836" w="1646">
                <a:moveTo>
                  <a:pt x="1046" y="0"/>
                </a:moveTo>
                <a:lnTo>
                  <a:pt x="828" y="9"/>
                </a:lnTo>
                <a:lnTo>
                  <a:pt x="555" y="9"/>
                </a:lnTo>
                <a:lnTo>
                  <a:pt x="255" y="55"/>
                </a:lnTo>
                <a:lnTo>
                  <a:pt x="64" y="191"/>
                </a:lnTo>
                <a:lnTo>
                  <a:pt x="0" y="491"/>
                </a:lnTo>
                <a:lnTo>
                  <a:pt x="46" y="709"/>
                </a:lnTo>
                <a:lnTo>
                  <a:pt x="173" y="718"/>
                </a:lnTo>
                <a:lnTo>
                  <a:pt x="428" y="809"/>
                </a:lnTo>
                <a:lnTo>
                  <a:pt x="809" y="782"/>
                </a:lnTo>
                <a:lnTo>
                  <a:pt x="1173" y="836"/>
                </a:lnTo>
                <a:lnTo>
                  <a:pt x="1455" y="782"/>
                </a:lnTo>
                <a:lnTo>
                  <a:pt x="1591" y="618"/>
                </a:lnTo>
                <a:lnTo>
                  <a:pt x="1646" y="445"/>
                </a:lnTo>
                <a:lnTo>
                  <a:pt x="1627" y="282"/>
                </a:lnTo>
                <a:lnTo>
                  <a:pt x="1518" y="109"/>
                </a:lnTo>
                <a:lnTo>
                  <a:pt x="1400" y="36"/>
                </a:lnTo>
                <a:lnTo>
                  <a:pt x="1046" y="0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1428750" y="1587500"/>
            <a:ext cx="3001962" cy="2987675"/>
          </a:xfrm>
          <a:custGeom>
            <a:rect b="b" l="l" r="r" t="t"/>
            <a:pathLst>
              <a:path extrusionOk="0" h="1882" w="1891">
                <a:moveTo>
                  <a:pt x="309" y="173"/>
                </a:moveTo>
                <a:lnTo>
                  <a:pt x="164" y="264"/>
                </a:lnTo>
                <a:lnTo>
                  <a:pt x="100" y="446"/>
                </a:lnTo>
                <a:lnTo>
                  <a:pt x="18" y="673"/>
                </a:lnTo>
                <a:lnTo>
                  <a:pt x="0" y="964"/>
                </a:lnTo>
                <a:lnTo>
                  <a:pt x="18" y="1173"/>
                </a:lnTo>
                <a:lnTo>
                  <a:pt x="64" y="1300"/>
                </a:lnTo>
                <a:lnTo>
                  <a:pt x="36" y="1573"/>
                </a:lnTo>
                <a:lnTo>
                  <a:pt x="82" y="1700"/>
                </a:lnTo>
                <a:lnTo>
                  <a:pt x="182" y="1782"/>
                </a:lnTo>
                <a:lnTo>
                  <a:pt x="500" y="1882"/>
                </a:lnTo>
                <a:lnTo>
                  <a:pt x="709" y="1827"/>
                </a:lnTo>
                <a:lnTo>
                  <a:pt x="809" y="1718"/>
                </a:lnTo>
                <a:lnTo>
                  <a:pt x="891" y="1527"/>
                </a:lnTo>
                <a:lnTo>
                  <a:pt x="982" y="1318"/>
                </a:lnTo>
                <a:lnTo>
                  <a:pt x="1100" y="1209"/>
                </a:lnTo>
                <a:lnTo>
                  <a:pt x="1300" y="1055"/>
                </a:lnTo>
                <a:lnTo>
                  <a:pt x="1554" y="955"/>
                </a:lnTo>
                <a:lnTo>
                  <a:pt x="1809" y="736"/>
                </a:lnTo>
                <a:lnTo>
                  <a:pt x="1891" y="446"/>
                </a:lnTo>
                <a:lnTo>
                  <a:pt x="1836" y="273"/>
                </a:lnTo>
                <a:lnTo>
                  <a:pt x="1654" y="91"/>
                </a:lnTo>
                <a:lnTo>
                  <a:pt x="1472" y="0"/>
                </a:lnTo>
                <a:lnTo>
                  <a:pt x="1272" y="0"/>
                </a:lnTo>
                <a:lnTo>
                  <a:pt x="1073" y="27"/>
                </a:lnTo>
                <a:lnTo>
                  <a:pt x="845" y="73"/>
                </a:lnTo>
                <a:lnTo>
                  <a:pt x="563" y="109"/>
                </a:lnTo>
                <a:lnTo>
                  <a:pt x="482" y="146"/>
                </a:lnTo>
                <a:lnTo>
                  <a:pt x="309" y="173"/>
                </a:lnTo>
                <a:close/>
              </a:path>
            </a:pathLst>
          </a:cu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27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731" name="Google Shape;731;p27"/>
          <p:cNvSpPr txBox="1"/>
          <p:nvPr/>
        </p:nvSpPr>
        <p:spPr>
          <a:xfrm>
            <a:off x="5535612" y="2084387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</a:t>
            </a:r>
            <a:endParaRPr/>
          </a:p>
        </p:txBody>
      </p:sp>
      <p:sp>
        <p:nvSpPr>
          <p:cNvPr id="732" name="Google Shape;732;p27"/>
          <p:cNvSpPr txBox="1"/>
          <p:nvPr/>
        </p:nvSpPr>
        <p:spPr>
          <a:xfrm>
            <a:off x="6604000" y="3802062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733" name="Google Shape;733;p27"/>
          <p:cNvSpPr txBox="1"/>
          <p:nvPr/>
        </p:nvSpPr>
        <p:spPr>
          <a:xfrm>
            <a:off x="4121150" y="3846512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fg</a:t>
            </a:r>
            <a:endParaRPr/>
          </a:p>
        </p:txBody>
      </p:sp>
      <p:sp>
        <p:nvSpPr>
          <p:cNvPr id="734" name="Google Shape;734;p27"/>
          <p:cNvSpPr txBox="1"/>
          <p:nvPr/>
        </p:nvSpPr>
        <p:spPr>
          <a:xfrm>
            <a:off x="2303462" y="2517775"/>
            <a:ext cx="641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abe</a:t>
            </a:r>
            <a:endParaRPr/>
          </a:p>
        </p:txBody>
      </p:sp>
      <p:cxnSp>
        <p:nvCxnSpPr>
          <p:cNvPr id="735" name="Google Shape;735;p27"/>
          <p:cNvCxnSpPr/>
          <p:nvPr/>
        </p:nvCxnSpPr>
        <p:spPr>
          <a:xfrm>
            <a:off x="4430712" y="2279650"/>
            <a:ext cx="331787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36" name="Google Shape;736;p27"/>
          <p:cNvCxnSpPr/>
          <p:nvPr/>
        </p:nvCxnSpPr>
        <p:spPr>
          <a:xfrm>
            <a:off x="3073400" y="3594100"/>
            <a:ext cx="144462" cy="23018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37" name="Google Shape;737;p27"/>
          <p:cNvCxnSpPr/>
          <p:nvPr/>
        </p:nvCxnSpPr>
        <p:spPr>
          <a:xfrm flipH="1">
            <a:off x="5208587" y="3016250"/>
            <a:ext cx="144462" cy="3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38" name="Google Shape;738;p27"/>
          <p:cNvCxnSpPr/>
          <p:nvPr/>
        </p:nvCxnSpPr>
        <p:spPr>
          <a:xfrm>
            <a:off x="6132512" y="2987675"/>
            <a:ext cx="246062" cy="5191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39" name="Google Shape;739;p27"/>
          <p:cNvCxnSpPr/>
          <p:nvPr/>
        </p:nvCxnSpPr>
        <p:spPr>
          <a:xfrm>
            <a:off x="5800725" y="3897312"/>
            <a:ext cx="3746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745" name="Google Shape;745;p28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it work?</a:t>
            </a:r>
            <a:endParaRPr/>
          </a:p>
        </p:txBody>
      </p:sp>
      <p:sp>
        <p:nvSpPr>
          <p:cNvPr id="746" name="Google Shape;746;p28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b="1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</a:t>
            </a:r>
            <a:r>
              <a:rPr b="1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considering vertices in second DFS in decreasing order of finishing times from first DFS, we are visiting vertices of the component graph in topologically sorted order.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we are running DFS on G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will not be visiting any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a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in different components.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b="1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always refer to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notation for 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sets of vertices 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⊆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(earliest discovery time)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baseline="-2500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(latest finishing time)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752" name="Google Shape;752;p29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SCCs and DFS finishing times</a:t>
            </a:r>
            <a:endParaRPr/>
          </a:p>
        </p:txBody>
      </p:sp>
      <p:sp>
        <p:nvSpPr>
          <p:cNvPr id="753" name="Google Shape;753;p29"/>
          <p:cNvSpPr txBox="1"/>
          <p:nvPr>
            <p:ph idx="1" type="body"/>
          </p:nvPr>
        </p:nvSpPr>
        <p:spPr>
          <a:xfrm>
            <a:off x="152400" y="2438400"/>
            <a:ext cx="4800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Noto Sans Symbols"/>
              <a:buChar char="⬥"/>
            </a:pPr>
            <a:r>
              <a:rPr b="0" i="0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the first vertex discovered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time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all vertices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white. Thus, there exist paths of white vertices from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all vertices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white-path theorem, all vertices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descendants of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depth-first tree.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parenthesis theorem,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29"/>
          <p:cNvSpPr txBox="1"/>
          <p:nvPr/>
        </p:nvSpPr>
        <p:spPr>
          <a:xfrm>
            <a:off x="152400" y="914400"/>
            <a:ext cx="8824912" cy="1262062"/>
          </a:xfrm>
          <a:prstGeom prst="rect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Lemma 22.14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distinct SCC’s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Suppose there is an edge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′. Then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755" name="Google Shape;755;p29"/>
          <p:cNvSpPr/>
          <p:nvPr/>
        </p:nvSpPr>
        <p:spPr>
          <a:xfrm>
            <a:off x="5029200" y="3048000"/>
            <a:ext cx="1828800" cy="1981200"/>
          </a:xfrm>
          <a:custGeom>
            <a:rect b="b" l="l" r="r" t="t"/>
            <a:pathLst>
              <a:path extrusionOk="0" h="1178" w="969">
                <a:moveTo>
                  <a:pt x="172" y="496"/>
                </a:moveTo>
                <a:cubicBezTo>
                  <a:pt x="161" y="430"/>
                  <a:pt x="156" y="392"/>
                  <a:pt x="144" y="333"/>
                </a:cubicBezTo>
                <a:cubicBezTo>
                  <a:pt x="141" y="317"/>
                  <a:pt x="134" y="285"/>
                  <a:pt x="134" y="285"/>
                </a:cubicBezTo>
                <a:cubicBezTo>
                  <a:pt x="144" y="200"/>
                  <a:pt x="131" y="194"/>
                  <a:pt x="201" y="170"/>
                </a:cubicBezTo>
                <a:cubicBezTo>
                  <a:pt x="220" y="173"/>
                  <a:pt x="273" y="177"/>
                  <a:pt x="297" y="189"/>
                </a:cubicBezTo>
                <a:cubicBezTo>
                  <a:pt x="407" y="242"/>
                  <a:pt x="260" y="177"/>
                  <a:pt x="345" y="228"/>
                </a:cubicBezTo>
                <a:cubicBezTo>
                  <a:pt x="362" y="239"/>
                  <a:pt x="384" y="240"/>
                  <a:pt x="403" y="247"/>
                </a:cubicBezTo>
                <a:cubicBezTo>
                  <a:pt x="438" y="242"/>
                  <a:pt x="483" y="253"/>
                  <a:pt x="508" y="228"/>
                </a:cubicBezTo>
                <a:cubicBezTo>
                  <a:pt x="543" y="193"/>
                  <a:pt x="510" y="133"/>
                  <a:pt x="566" y="93"/>
                </a:cubicBezTo>
                <a:cubicBezTo>
                  <a:pt x="590" y="76"/>
                  <a:pt x="634" y="45"/>
                  <a:pt x="662" y="36"/>
                </a:cubicBezTo>
                <a:cubicBezTo>
                  <a:pt x="687" y="27"/>
                  <a:pt x="713" y="22"/>
                  <a:pt x="739" y="16"/>
                </a:cubicBezTo>
                <a:cubicBezTo>
                  <a:pt x="752" y="13"/>
                  <a:pt x="777" y="7"/>
                  <a:pt x="777" y="7"/>
                </a:cubicBezTo>
                <a:cubicBezTo>
                  <a:pt x="806" y="10"/>
                  <a:pt x="839" y="0"/>
                  <a:pt x="864" y="16"/>
                </a:cubicBezTo>
                <a:cubicBezTo>
                  <a:pt x="881" y="27"/>
                  <a:pt x="883" y="74"/>
                  <a:pt x="883" y="74"/>
                </a:cubicBezTo>
                <a:cubicBezTo>
                  <a:pt x="880" y="135"/>
                  <a:pt x="885" y="196"/>
                  <a:pt x="873" y="256"/>
                </a:cubicBezTo>
                <a:cubicBezTo>
                  <a:pt x="871" y="268"/>
                  <a:pt x="852" y="268"/>
                  <a:pt x="844" y="276"/>
                </a:cubicBezTo>
                <a:cubicBezTo>
                  <a:pt x="824" y="296"/>
                  <a:pt x="803" y="328"/>
                  <a:pt x="787" y="352"/>
                </a:cubicBezTo>
                <a:cubicBezTo>
                  <a:pt x="777" y="393"/>
                  <a:pt x="742" y="480"/>
                  <a:pt x="806" y="506"/>
                </a:cubicBezTo>
                <a:cubicBezTo>
                  <a:pt x="827" y="514"/>
                  <a:pt x="851" y="513"/>
                  <a:pt x="873" y="516"/>
                </a:cubicBezTo>
                <a:cubicBezTo>
                  <a:pt x="927" y="533"/>
                  <a:pt x="884" y="511"/>
                  <a:pt x="912" y="554"/>
                </a:cubicBezTo>
                <a:cubicBezTo>
                  <a:pt x="919" y="565"/>
                  <a:pt x="931" y="573"/>
                  <a:pt x="940" y="583"/>
                </a:cubicBezTo>
                <a:cubicBezTo>
                  <a:pt x="969" y="667"/>
                  <a:pt x="963" y="728"/>
                  <a:pt x="931" y="813"/>
                </a:cubicBezTo>
                <a:cubicBezTo>
                  <a:pt x="926" y="826"/>
                  <a:pt x="927" y="840"/>
                  <a:pt x="921" y="852"/>
                </a:cubicBezTo>
                <a:cubicBezTo>
                  <a:pt x="911" y="872"/>
                  <a:pt x="890" y="887"/>
                  <a:pt x="883" y="909"/>
                </a:cubicBezTo>
                <a:cubicBezTo>
                  <a:pt x="880" y="919"/>
                  <a:pt x="880" y="931"/>
                  <a:pt x="873" y="938"/>
                </a:cubicBezTo>
                <a:cubicBezTo>
                  <a:pt x="841" y="970"/>
                  <a:pt x="823" y="974"/>
                  <a:pt x="787" y="986"/>
                </a:cubicBezTo>
                <a:cubicBezTo>
                  <a:pt x="684" y="976"/>
                  <a:pt x="589" y="974"/>
                  <a:pt x="489" y="1005"/>
                </a:cubicBezTo>
                <a:cubicBezTo>
                  <a:pt x="464" y="1030"/>
                  <a:pt x="437" y="1048"/>
                  <a:pt x="412" y="1072"/>
                </a:cubicBezTo>
                <a:cubicBezTo>
                  <a:pt x="390" y="1141"/>
                  <a:pt x="347" y="1157"/>
                  <a:pt x="288" y="1178"/>
                </a:cubicBezTo>
                <a:cubicBezTo>
                  <a:pt x="148" y="1165"/>
                  <a:pt x="137" y="1153"/>
                  <a:pt x="28" y="1082"/>
                </a:cubicBezTo>
                <a:cubicBezTo>
                  <a:pt x="11" y="1008"/>
                  <a:pt x="0" y="915"/>
                  <a:pt x="67" y="871"/>
                </a:cubicBezTo>
                <a:cubicBezTo>
                  <a:pt x="105" y="813"/>
                  <a:pt x="153" y="787"/>
                  <a:pt x="220" y="775"/>
                </a:cubicBezTo>
                <a:cubicBezTo>
                  <a:pt x="222" y="773"/>
                  <a:pt x="259" y="739"/>
                  <a:pt x="259" y="736"/>
                </a:cubicBezTo>
                <a:cubicBezTo>
                  <a:pt x="270" y="643"/>
                  <a:pt x="172" y="598"/>
                  <a:pt x="172" y="496"/>
                </a:cubicBezTo>
                <a:close/>
              </a:path>
            </a:pathLst>
          </a:cu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7315200" y="3048000"/>
            <a:ext cx="1600200" cy="1828800"/>
          </a:xfrm>
          <a:custGeom>
            <a:rect b="b" l="l" r="r" t="t"/>
            <a:pathLst>
              <a:path extrusionOk="0" h="903" w="779">
                <a:moveTo>
                  <a:pt x="270" y="557"/>
                </a:moveTo>
                <a:cubicBezTo>
                  <a:pt x="252" y="490"/>
                  <a:pt x="241" y="508"/>
                  <a:pt x="193" y="471"/>
                </a:cubicBezTo>
                <a:cubicBezTo>
                  <a:pt x="110" y="406"/>
                  <a:pt x="179" y="435"/>
                  <a:pt x="116" y="413"/>
                </a:cubicBezTo>
                <a:cubicBezTo>
                  <a:pt x="82" y="387"/>
                  <a:pt x="50" y="366"/>
                  <a:pt x="20" y="336"/>
                </a:cubicBezTo>
                <a:cubicBezTo>
                  <a:pt x="0" y="274"/>
                  <a:pt x="3" y="219"/>
                  <a:pt x="49" y="173"/>
                </a:cubicBezTo>
                <a:cubicBezTo>
                  <a:pt x="75" y="176"/>
                  <a:pt x="102" y="173"/>
                  <a:pt x="126" y="183"/>
                </a:cubicBezTo>
                <a:cubicBezTo>
                  <a:pt x="137" y="187"/>
                  <a:pt x="138" y="203"/>
                  <a:pt x="145" y="212"/>
                </a:cubicBezTo>
                <a:cubicBezTo>
                  <a:pt x="172" y="244"/>
                  <a:pt x="169" y="238"/>
                  <a:pt x="203" y="250"/>
                </a:cubicBezTo>
                <a:cubicBezTo>
                  <a:pt x="225" y="247"/>
                  <a:pt x="249" y="248"/>
                  <a:pt x="270" y="240"/>
                </a:cubicBezTo>
                <a:cubicBezTo>
                  <a:pt x="315" y="222"/>
                  <a:pt x="325" y="124"/>
                  <a:pt x="337" y="87"/>
                </a:cubicBezTo>
                <a:cubicBezTo>
                  <a:pt x="340" y="77"/>
                  <a:pt x="339" y="64"/>
                  <a:pt x="347" y="58"/>
                </a:cubicBezTo>
                <a:cubicBezTo>
                  <a:pt x="397" y="20"/>
                  <a:pt x="367" y="36"/>
                  <a:pt x="414" y="20"/>
                </a:cubicBezTo>
                <a:cubicBezTo>
                  <a:pt x="433" y="14"/>
                  <a:pt x="471" y="0"/>
                  <a:pt x="471" y="0"/>
                </a:cubicBezTo>
                <a:cubicBezTo>
                  <a:pt x="503" y="3"/>
                  <a:pt x="536" y="2"/>
                  <a:pt x="567" y="10"/>
                </a:cubicBezTo>
                <a:cubicBezTo>
                  <a:pt x="646" y="30"/>
                  <a:pt x="572" y="155"/>
                  <a:pt x="529" y="183"/>
                </a:cubicBezTo>
                <a:cubicBezTo>
                  <a:pt x="484" y="251"/>
                  <a:pt x="478" y="234"/>
                  <a:pt x="500" y="327"/>
                </a:cubicBezTo>
                <a:cubicBezTo>
                  <a:pt x="503" y="338"/>
                  <a:pt x="510" y="349"/>
                  <a:pt x="519" y="356"/>
                </a:cubicBezTo>
                <a:cubicBezTo>
                  <a:pt x="544" y="375"/>
                  <a:pt x="634" y="390"/>
                  <a:pt x="673" y="413"/>
                </a:cubicBezTo>
                <a:cubicBezTo>
                  <a:pt x="693" y="425"/>
                  <a:pt x="731" y="452"/>
                  <a:pt x="731" y="452"/>
                </a:cubicBezTo>
                <a:cubicBezTo>
                  <a:pt x="734" y="461"/>
                  <a:pt x="735" y="472"/>
                  <a:pt x="740" y="480"/>
                </a:cubicBezTo>
                <a:cubicBezTo>
                  <a:pt x="748" y="491"/>
                  <a:pt x="768" y="495"/>
                  <a:pt x="769" y="509"/>
                </a:cubicBezTo>
                <a:cubicBezTo>
                  <a:pt x="775" y="576"/>
                  <a:pt x="779" y="646"/>
                  <a:pt x="759" y="711"/>
                </a:cubicBezTo>
                <a:cubicBezTo>
                  <a:pt x="753" y="730"/>
                  <a:pt x="721" y="724"/>
                  <a:pt x="702" y="730"/>
                </a:cubicBezTo>
                <a:cubicBezTo>
                  <a:pt x="662" y="743"/>
                  <a:pt x="619" y="737"/>
                  <a:pt x="577" y="740"/>
                </a:cubicBezTo>
                <a:cubicBezTo>
                  <a:pt x="526" y="752"/>
                  <a:pt x="502" y="743"/>
                  <a:pt x="471" y="788"/>
                </a:cubicBezTo>
                <a:cubicBezTo>
                  <a:pt x="465" y="807"/>
                  <a:pt x="469" y="834"/>
                  <a:pt x="452" y="845"/>
                </a:cubicBezTo>
                <a:cubicBezTo>
                  <a:pt x="386" y="888"/>
                  <a:pt x="328" y="894"/>
                  <a:pt x="251" y="903"/>
                </a:cubicBezTo>
                <a:cubicBezTo>
                  <a:pt x="193" y="897"/>
                  <a:pt x="134" y="898"/>
                  <a:pt x="78" y="884"/>
                </a:cubicBezTo>
                <a:cubicBezTo>
                  <a:pt x="45" y="876"/>
                  <a:pt x="60" y="792"/>
                  <a:pt x="68" y="749"/>
                </a:cubicBezTo>
                <a:cubicBezTo>
                  <a:pt x="77" y="701"/>
                  <a:pt x="140" y="629"/>
                  <a:pt x="183" y="615"/>
                </a:cubicBezTo>
                <a:cubicBezTo>
                  <a:pt x="190" y="609"/>
                  <a:pt x="195" y="600"/>
                  <a:pt x="203" y="596"/>
                </a:cubicBezTo>
                <a:cubicBezTo>
                  <a:pt x="221" y="587"/>
                  <a:pt x="260" y="576"/>
                  <a:pt x="260" y="576"/>
                </a:cubicBezTo>
                <a:cubicBezTo>
                  <a:pt x="271" y="545"/>
                  <a:pt x="270" y="538"/>
                  <a:pt x="270" y="557"/>
                </a:cubicBezTo>
                <a:close/>
              </a:path>
            </a:pathLst>
          </a:cu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29"/>
          <p:cNvSpPr/>
          <p:nvPr/>
        </p:nvSpPr>
        <p:spPr>
          <a:xfrm>
            <a:off x="6019800" y="3657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29"/>
          <p:cNvSpPr/>
          <p:nvPr/>
        </p:nvSpPr>
        <p:spPr>
          <a:xfrm>
            <a:off x="8077200" y="37338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9" name="Google Shape;759;p29"/>
          <p:cNvCxnSpPr/>
          <p:nvPr/>
        </p:nvCxnSpPr>
        <p:spPr>
          <a:xfrm>
            <a:off x="6172200" y="3733800"/>
            <a:ext cx="1905000" cy="7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60" name="Google Shape;760;p29"/>
          <p:cNvSpPr txBox="1"/>
          <p:nvPr/>
        </p:nvSpPr>
        <p:spPr>
          <a:xfrm>
            <a:off x="5486400" y="2667000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761" name="Google Shape;761;p29"/>
          <p:cNvSpPr txBox="1"/>
          <p:nvPr/>
        </p:nvSpPr>
        <p:spPr>
          <a:xfrm>
            <a:off x="7772400" y="2611437"/>
            <a:ext cx="42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i="0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endParaRPr/>
          </a:p>
        </p:txBody>
      </p:sp>
      <p:sp>
        <p:nvSpPr>
          <p:cNvPr id="762" name="Google Shape;762;p29"/>
          <p:cNvSpPr txBox="1"/>
          <p:nvPr/>
        </p:nvSpPr>
        <p:spPr>
          <a:xfrm>
            <a:off x="5943600" y="3733800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63" name="Google Shape;763;p29"/>
          <p:cNvSpPr txBox="1"/>
          <p:nvPr/>
        </p:nvSpPr>
        <p:spPr>
          <a:xfrm>
            <a:off x="8077200" y="3810000"/>
            <a:ext cx="285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64" name="Google Shape;764;p29"/>
          <p:cNvSpPr/>
          <p:nvPr/>
        </p:nvSpPr>
        <p:spPr>
          <a:xfrm>
            <a:off x="5638800" y="4267200"/>
            <a:ext cx="152400" cy="152400"/>
          </a:xfrm>
          <a:prstGeom prst="ellipse">
            <a:avLst/>
          </a:prstGeom>
          <a:solidFill>
            <a:schemeClr val="hlink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29"/>
          <p:cNvSpPr txBox="1"/>
          <p:nvPr/>
        </p:nvSpPr>
        <p:spPr>
          <a:xfrm>
            <a:off x="5562600" y="4343400"/>
            <a:ext cx="285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771" name="Google Shape;771;p30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SCCs and DFS finishing times</a:t>
            </a:r>
            <a:endParaRPr/>
          </a:p>
        </p:txBody>
      </p:sp>
      <p:sp>
        <p:nvSpPr>
          <p:cNvPr id="772" name="Google Shape;772;p30"/>
          <p:cNvSpPr txBox="1"/>
          <p:nvPr>
            <p:ph idx="1" type="body"/>
          </p:nvPr>
        </p:nvSpPr>
        <p:spPr>
          <a:xfrm>
            <a:off x="228600" y="2209800"/>
            <a:ext cx="510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Noto Sans Symbols"/>
              <a:buChar char="⬥"/>
            </a:pPr>
            <a:r>
              <a:rPr b="0" i="0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0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the first vertex discovered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time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all vertices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white and there is a white path from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each vertex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vertices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become descendants of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Again,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time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all vertices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also white.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earlier lemma, since there is an edge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cannot have a path from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no vertex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reachable from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at time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all vertices in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still white.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for all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which implies that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30"/>
          <p:cNvSpPr txBox="1"/>
          <p:nvPr/>
        </p:nvSpPr>
        <p:spPr>
          <a:xfrm>
            <a:off x="152400" y="914400"/>
            <a:ext cx="8824912" cy="1262062"/>
          </a:xfrm>
          <a:prstGeom prst="rect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Lemma 22.14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distinct SCC’s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Suppose there is an edge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′. Then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774" name="Google Shape;774;p30"/>
          <p:cNvSpPr/>
          <p:nvPr/>
        </p:nvSpPr>
        <p:spPr>
          <a:xfrm>
            <a:off x="5029200" y="3048000"/>
            <a:ext cx="1828800" cy="1981200"/>
          </a:xfrm>
          <a:custGeom>
            <a:rect b="b" l="l" r="r" t="t"/>
            <a:pathLst>
              <a:path extrusionOk="0" h="1178" w="969">
                <a:moveTo>
                  <a:pt x="172" y="496"/>
                </a:moveTo>
                <a:cubicBezTo>
                  <a:pt x="161" y="430"/>
                  <a:pt x="156" y="392"/>
                  <a:pt x="144" y="333"/>
                </a:cubicBezTo>
                <a:cubicBezTo>
                  <a:pt x="141" y="317"/>
                  <a:pt x="134" y="285"/>
                  <a:pt x="134" y="285"/>
                </a:cubicBezTo>
                <a:cubicBezTo>
                  <a:pt x="144" y="200"/>
                  <a:pt x="131" y="194"/>
                  <a:pt x="201" y="170"/>
                </a:cubicBezTo>
                <a:cubicBezTo>
                  <a:pt x="220" y="173"/>
                  <a:pt x="273" y="177"/>
                  <a:pt x="297" y="189"/>
                </a:cubicBezTo>
                <a:cubicBezTo>
                  <a:pt x="407" y="242"/>
                  <a:pt x="260" y="177"/>
                  <a:pt x="345" y="228"/>
                </a:cubicBezTo>
                <a:cubicBezTo>
                  <a:pt x="362" y="239"/>
                  <a:pt x="384" y="240"/>
                  <a:pt x="403" y="247"/>
                </a:cubicBezTo>
                <a:cubicBezTo>
                  <a:pt x="438" y="242"/>
                  <a:pt x="483" y="253"/>
                  <a:pt x="508" y="228"/>
                </a:cubicBezTo>
                <a:cubicBezTo>
                  <a:pt x="543" y="193"/>
                  <a:pt x="510" y="133"/>
                  <a:pt x="566" y="93"/>
                </a:cubicBezTo>
                <a:cubicBezTo>
                  <a:pt x="590" y="76"/>
                  <a:pt x="634" y="45"/>
                  <a:pt x="662" y="36"/>
                </a:cubicBezTo>
                <a:cubicBezTo>
                  <a:pt x="687" y="27"/>
                  <a:pt x="713" y="22"/>
                  <a:pt x="739" y="16"/>
                </a:cubicBezTo>
                <a:cubicBezTo>
                  <a:pt x="752" y="13"/>
                  <a:pt x="777" y="7"/>
                  <a:pt x="777" y="7"/>
                </a:cubicBezTo>
                <a:cubicBezTo>
                  <a:pt x="806" y="10"/>
                  <a:pt x="839" y="0"/>
                  <a:pt x="864" y="16"/>
                </a:cubicBezTo>
                <a:cubicBezTo>
                  <a:pt x="881" y="27"/>
                  <a:pt x="883" y="74"/>
                  <a:pt x="883" y="74"/>
                </a:cubicBezTo>
                <a:cubicBezTo>
                  <a:pt x="880" y="135"/>
                  <a:pt x="885" y="196"/>
                  <a:pt x="873" y="256"/>
                </a:cubicBezTo>
                <a:cubicBezTo>
                  <a:pt x="871" y="268"/>
                  <a:pt x="852" y="268"/>
                  <a:pt x="844" y="276"/>
                </a:cubicBezTo>
                <a:cubicBezTo>
                  <a:pt x="824" y="296"/>
                  <a:pt x="803" y="328"/>
                  <a:pt x="787" y="352"/>
                </a:cubicBezTo>
                <a:cubicBezTo>
                  <a:pt x="777" y="393"/>
                  <a:pt x="742" y="480"/>
                  <a:pt x="806" y="506"/>
                </a:cubicBezTo>
                <a:cubicBezTo>
                  <a:pt x="827" y="514"/>
                  <a:pt x="851" y="513"/>
                  <a:pt x="873" y="516"/>
                </a:cubicBezTo>
                <a:cubicBezTo>
                  <a:pt x="927" y="533"/>
                  <a:pt x="884" y="511"/>
                  <a:pt x="912" y="554"/>
                </a:cubicBezTo>
                <a:cubicBezTo>
                  <a:pt x="919" y="565"/>
                  <a:pt x="931" y="573"/>
                  <a:pt x="940" y="583"/>
                </a:cubicBezTo>
                <a:cubicBezTo>
                  <a:pt x="969" y="667"/>
                  <a:pt x="963" y="728"/>
                  <a:pt x="931" y="813"/>
                </a:cubicBezTo>
                <a:cubicBezTo>
                  <a:pt x="926" y="826"/>
                  <a:pt x="927" y="840"/>
                  <a:pt x="921" y="852"/>
                </a:cubicBezTo>
                <a:cubicBezTo>
                  <a:pt x="911" y="872"/>
                  <a:pt x="890" y="887"/>
                  <a:pt x="883" y="909"/>
                </a:cubicBezTo>
                <a:cubicBezTo>
                  <a:pt x="880" y="919"/>
                  <a:pt x="880" y="931"/>
                  <a:pt x="873" y="938"/>
                </a:cubicBezTo>
                <a:cubicBezTo>
                  <a:pt x="841" y="970"/>
                  <a:pt x="823" y="974"/>
                  <a:pt x="787" y="986"/>
                </a:cubicBezTo>
                <a:cubicBezTo>
                  <a:pt x="684" y="976"/>
                  <a:pt x="589" y="974"/>
                  <a:pt x="489" y="1005"/>
                </a:cubicBezTo>
                <a:cubicBezTo>
                  <a:pt x="464" y="1030"/>
                  <a:pt x="437" y="1048"/>
                  <a:pt x="412" y="1072"/>
                </a:cubicBezTo>
                <a:cubicBezTo>
                  <a:pt x="390" y="1141"/>
                  <a:pt x="347" y="1157"/>
                  <a:pt x="288" y="1178"/>
                </a:cubicBezTo>
                <a:cubicBezTo>
                  <a:pt x="148" y="1165"/>
                  <a:pt x="137" y="1153"/>
                  <a:pt x="28" y="1082"/>
                </a:cubicBezTo>
                <a:cubicBezTo>
                  <a:pt x="11" y="1008"/>
                  <a:pt x="0" y="915"/>
                  <a:pt x="67" y="871"/>
                </a:cubicBezTo>
                <a:cubicBezTo>
                  <a:pt x="105" y="813"/>
                  <a:pt x="153" y="787"/>
                  <a:pt x="220" y="775"/>
                </a:cubicBezTo>
                <a:cubicBezTo>
                  <a:pt x="222" y="773"/>
                  <a:pt x="259" y="739"/>
                  <a:pt x="259" y="736"/>
                </a:cubicBezTo>
                <a:cubicBezTo>
                  <a:pt x="270" y="643"/>
                  <a:pt x="172" y="598"/>
                  <a:pt x="172" y="496"/>
                </a:cubicBezTo>
                <a:close/>
              </a:path>
            </a:pathLst>
          </a:cu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30"/>
          <p:cNvSpPr/>
          <p:nvPr/>
        </p:nvSpPr>
        <p:spPr>
          <a:xfrm>
            <a:off x="7315200" y="3048000"/>
            <a:ext cx="1600200" cy="1828800"/>
          </a:xfrm>
          <a:custGeom>
            <a:rect b="b" l="l" r="r" t="t"/>
            <a:pathLst>
              <a:path extrusionOk="0" h="903" w="779">
                <a:moveTo>
                  <a:pt x="270" y="557"/>
                </a:moveTo>
                <a:cubicBezTo>
                  <a:pt x="252" y="490"/>
                  <a:pt x="241" y="508"/>
                  <a:pt x="193" y="471"/>
                </a:cubicBezTo>
                <a:cubicBezTo>
                  <a:pt x="110" y="406"/>
                  <a:pt x="179" y="435"/>
                  <a:pt x="116" y="413"/>
                </a:cubicBezTo>
                <a:cubicBezTo>
                  <a:pt x="82" y="387"/>
                  <a:pt x="50" y="366"/>
                  <a:pt x="20" y="336"/>
                </a:cubicBezTo>
                <a:cubicBezTo>
                  <a:pt x="0" y="274"/>
                  <a:pt x="3" y="219"/>
                  <a:pt x="49" y="173"/>
                </a:cubicBezTo>
                <a:cubicBezTo>
                  <a:pt x="75" y="176"/>
                  <a:pt x="102" y="173"/>
                  <a:pt x="126" y="183"/>
                </a:cubicBezTo>
                <a:cubicBezTo>
                  <a:pt x="137" y="187"/>
                  <a:pt x="138" y="203"/>
                  <a:pt x="145" y="212"/>
                </a:cubicBezTo>
                <a:cubicBezTo>
                  <a:pt x="172" y="244"/>
                  <a:pt x="169" y="238"/>
                  <a:pt x="203" y="250"/>
                </a:cubicBezTo>
                <a:cubicBezTo>
                  <a:pt x="225" y="247"/>
                  <a:pt x="249" y="248"/>
                  <a:pt x="270" y="240"/>
                </a:cubicBezTo>
                <a:cubicBezTo>
                  <a:pt x="315" y="222"/>
                  <a:pt x="325" y="124"/>
                  <a:pt x="337" y="87"/>
                </a:cubicBezTo>
                <a:cubicBezTo>
                  <a:pt x="340" y="77"/>
                  <a:pt x="339" y="64"/>
                  <a:pt x="347" y="58"/>
                </a:cubicBezTo>
                <a:cubicBezTo>
                  <a:pt x="397" y="20"/>
                  <a:pt x="367" y="36"/>
                  <a:pt x="414" y="20"/>
                </a:cubicBezTo>
                <a:cubicBezTo>
                  <a:pt x="433" y="14"/>
                  <a:pt x="471" y="0"/>
                  <a:pt x="471" y="0"/>
                </a:cubicBezTo>
                <a:cubicBezTo>
                  <a:pt x="503" y="3"/>
                  <a:pt x="536" y="2"/>
                  <a:pt x="567" y="10"/>
                </a:cubicBezTo>
                <a:cubicBezTo>
                  <a:pt x="646" y="30"/>
                  <a:pt x="572" y="155"/>
                  <a:pt x="529" y="183"/>
                </a:cubicBezTo>
                <a:cubicBezTo>
                  <a:pt x="484" y="251"/>
                  <a:pt x="478" y="234"/>
                  <a:pt x="500" y="327"/>
                </a:cubicBezTo>
                <a:cubicBezTo>
                  <a:pt x="503" y="338"/>
                  <a:pt x="510" y="349"/>
                  <a:pt x="519" y="356"/>
                </a:cubicBezTo>
                <a:cubicBezTo>
                  <a:pt x="544" y="375"/>
                  <a:pt x="634" y="390"/>
                  <a:pt x="673" y="413"/>
                </a:cubicBezTo>
                <a:cubicBezTo>
                  <a:pt x="693" y="425"/>
                  <a:pt x="731" y="452"/>
                  <a:pt x="731" y="452"/>
                </a:cubicBezTo>
                <a:cubicBezTo>
                  <a:pt x="734" y="461"/>
                  <a:pt x="735" y="472"/>
                  <a:pt x="740" y="480"/>
                </a:cubicBezTo>
                <a:cubicBezTo>
                  <a:pt x="748" y="491"/>
                  <a:pt x="768" y="495"/>
                  <a:pt x="769" y="509"/>
                </a:cubicBezTo>
                <a:cubicBezTo>
                  <a:pt x="775" y="576"/>
                  <a:pt x="779" y="646"/>
                  <a:pt x="759" y="711"/>
                </a:cubicBezTo>
                <a:cubicBezTo>
                  <a:pt x="753" y="730"/>
                  <a:pt x="721" y="724"/>
                  <a:pt x="702" y="730"/>
                </a:cubicBezTo>
                <a:cubicBezTo>
                  <a:pt x="662" y="743"/>
                  <a:pt x="619" y="737"/>
                  <a:pt x="577" y="740"/>
                </a:cubicBezTo>
                <a:cubicBezTo>
                  <a:pt x="526" y="752"/>
                  <a:pt x="502" y="743"/>
                  <a:pt x="471" y="788"/>
                </a:cubicBezTo>
                <a:cubicBezTo>
                  <a:pt x="465" y="807"/>
                  <a:pt x="469" y="834"/>
                  <a:pt x="452" y="845"/>
                </a:cubicBezTo>
                <a:cubicBezTo>
                  <a:pt x="386" y="888"/>
                  <a:pt x="328" y="894"/>
                  <a:pt x="251" y="903"/>
                </a:cubicBezTo>
                <a:cubicBezTo>
                  <a:pt x="193" y="897"/>
                  <a:pt x="134" y="898"/>
                  <a:pt x="78" y="884"/>
                </a:cubicBezTo>
                <a:cubicBezTo>
                  <a:pt x="45" y="876"/>
                  <a:pt x="60" y="792"/>
                  <a:pt x="68" y="749"/>
                </a:cubicBezTo>
                <a:cubicBezTo>
                  <a:pt x="77" y="701"/>
                  <a:pt x="140" y="629"/>
                  <a:pt x="183" y="615"/>
                </a:cubicBezTo>
                <a:cubicBezTo>
                  <a:pt x="190" y="609"/>
                  <a:pt x="195" y="600"/>
                  <a:pt x="203" y="596"/>
                </a:cubicBezTo>
                <a:cubicBezTo>
                  <a:pt x="221" y="587"/>
                  <a:pt x="260" y="576"/>
                  <a:pt x="260" y="576"/>
                </a:cubicBezTo>
                <a:cubicBezTo>
                  <a:pt x="271" y="545"/>
                  <a:pt x="270" y="538"/>
                  <a:pt x="270" y="557"/>
                </a:cubicBezTo>
                <a:close/>
              </a:path>
            </a:pathLst>
          </a:custGeom>
          <a:solidFill>
            <a:srgbClr val="FFCCF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30"/>
          <p:cNvSpPr/>
          <p:nvPr/>
        </p:nvSpPr>
        <p:spPr>
          <a:xfrm>
            <a:off x="8077200" y="37338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30"/>
          <p:cNvSpPr txBox="1"/>
          <p:nvPr/>
        </p:nvSpPr>
        <p:spPr>
          <a:xfrm>
            <a:off x="5638800" y="2819400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778" name="Google Shape;778;p30"/>
          <p:cNvSpPr txBox="1"/>
          <p:nvPr/>
        </p:nvSpPr>
        <p:spPr>
          <a:xfrm>
            <a:off x="7620000" y="2743200"/>
            <a:ext cx="42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i="0" lang="en-US" sz="24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endParaRPr/>
          </a:p>
        </p:txBody>
      </p:sp>
      <p:sp>
        <p:nvSpPr>
          <p:cNvPr id="779" name="Google Shape;779;p30"/>
          <p:cNvSpPr txBox="1"/>
          <p:nvPr/>
        </p:nvSpPr>
        <p:spPr>
          <a:xfrm>
            <a:off x="5943600" y="3733800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80" name="Google Shape;780;p30"/>
          <p:cNvSpPr/>
          <p:nvPr/>
        </p:nvSpPr>
        <p:spPr>
          <a:xfrm>
            <a:off x="8001000" y="4191000"/>
            <a:ext cx="152400" cy="152400"/>
          </a:xfrm>
          <a:prstGeom prst="ellipse">
            <a:avLst/>
          </a:prstGeom>
          <a:solidFill>
            <a:schemeClr val="hlink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1" name="Google Shape;781;p30"/>
          <p:cNvSpPr/>
          <p:nvPr/>
        </p:nvSpPr>
        <p:spPr>
          <a:xfrm>
            <a:off x="6019800" y="36576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2" name="Google Shape;782;p30"/>
          <p:cNvCxnSpPr/>
          <p:nvPr/>
        </p:nvCxnSpPr>
        <p:spPr>
          <a:xfrm>
            <a:off x="6172200" y="3733800"/>
            <a:ext cx="1905000" cy="7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3" name="Google Shape;783;p30"/>
          <p:cNvSpPr txBox="1"/>
          <p:nvPr/>
        </p:nvSpPr>
        <p:spPr>
          <a:xfrm>
            <a:off x="8077200" y="3810000"/>
            <a:ext cx="285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84" name="Google Shape;784;p30"/>
          <p:cNvSpPr txBox="1"/>
          <p:nvPr/>
        </p:nvSpPr>
        <p:spPr>
          <a:xfrm>
            <a:off x="7924800" y="4267200"/>
            <a:ext cx="285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785" name="Google Shape;785;p30"/>
          <p:cNvCxnSpPr/>
          <p:nvPr/>
        </p:nvCxnSpPr>
        <p:spPr>
          <a:xfrm rot="10800000">
            <a:off x="6767599" y="4481649"/>
            <a:ext cx="687300" cy="84000"/>
          </a:xfrm>
          <a:prstGeom prst="curvedConnector3">
            <a:avLst>
              <a:gd fmla="val 11574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6" name="Google Shape;786;p30"/>
          <p:cNvSpPr txBox="1"/>
          <p:nvPr/>
        </p:nvSpPr>
        <p:spPr>
          <a:xfrm>
            <a:off x="6918325" y="42322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FF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792" name="Google Shape;792;p31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SCCs and DFS finishing times</a:t>
            </a:r>
            <a:endParaRPr/>
          </a:p>
        </p:txBody>
      </p:sp>
      <p:sp>
        <p:nvSpPr>
          <p:cNvPr id="793" name="Google Shape;793;p31"/>
          <p:cNvSpPr txBox="1"/>
          <p:nvPr>
            <p:ph idx="1" type="body"/>
          </p:nvPr>
        </p:nvSpPr>
        <p:spPr>
          <a:xfrm>
            <a:off x="152400" y="251460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None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v,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SCC’s of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same, 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′)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), by Lemma 22.14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>
              <a:solidFill>
                <a:srgbClr val="01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31"/>
          <p:cNvSpPr txBox="1"/>
          <p:nvPr/>
        </p:nvSpPr>
        <p:spPr>
          <a:xfrm>
            <a:off x="152400" y="914400"/>
            <a:ext cx="8824912" cy="1938337"/>
          </a:xfrm>
          <a:prstGeom prst="rect">
            <a:avLst/>
          </a:prstGeom>
          <a:solidFill>
            <a:srgbClr val="CCE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 22.15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distinct SCC’s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Suppose there is an edge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′. Then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00" name="Google Shape;800;p32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 of SCC</a:t>
            </a:r>
            <a:endParaRPr/>
          </a:p>
        </p:txBody>
      </p:sp>
      <p:sp>
        <p:nvSpPr>
          <p:cNvPr id="801" name="Google Shape;801;p32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do the second DFS, on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start with SCC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maximum.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second DFS starts from some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it visits all vertices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 22.15 says that since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are no edges from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DFS will visit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means that the depth-first tree rooted at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exactly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vertices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t/>
            </a:r>
            <a:endParaRPr b="0" i="0" sz="280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07" name="Google Shape;807;p33"/>
          <p:cNvSpPr txBox="1"/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 of SCC</a:t>
            </a:r>
            <a:endParaRPr/>
          </a:p>
        </p:txBody>
      </p:sp>
      <p:sp>
        <p:nvSpPr>
          <p:cNvPr id="808" name="Google Shape;808;p33"/>
          <p:cNvSpPr txBox="1"/>
          <p:nvPr>
            <p:ph idx="1" type="body"/>
          </p:nvPr>
        </p:nvSpPr>
        <p:spPr>
          <a:xfrm>
            <a:off x="1524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next root chosen in the second DFS is in SCC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1" lang="en-US" sz="280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maximum over all SCC’s other than </a:t>
            </a:r>
            <a:r>
              <a:rPr b="0" i="1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visits all vertices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′, but the only edges out of 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to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we’ve already visited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 only tree edges will be to vertices in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′.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continue the process.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b="0" i="0" lang="en-US" sz="280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time we choose a root for the second DFS, it can reach only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 in its SCC—get tree edges to these,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 in SCC’s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already visited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second DFS—get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 to these.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2003-11-11T02:56:16Z</dcterms:created>
  <dc:creator>UmaMaheswari</dc:creator>
</cp:coreProperties>
</file>